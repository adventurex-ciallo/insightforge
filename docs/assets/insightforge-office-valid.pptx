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658368"/>
            <a:ext cx="118872" cy="1097280"/>
          </a:xfrm>
          <a:prstGeom prst="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1005840" y="704088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 b="1">
                <a:solidFill>
                  <a:srgbClr val="22C3A6"/>
                </a:solidFill>
                <a:latin typeface="Aptos Display"/>
                <a:ea typeface="Aptos Display"/>
              </a:rPr>
              <a:t>PROOF OF INSIGHT</a:t>
            </a:r>
            <a:endParaRPr lang="zh-CN" sz="1100"/>
          </a:p>
        </p:txBody>
      </p:sp>
      <p:sp>
        <p:nvSpPr>
          <p:cNvPr id="4" name="Text 4"/>
          <p:cNvSpPr txBox="1"/>
          <p:nvPr/>
        </p:nvSpPr>
        <p:spPr>
          <a:xfrm>
            <a:off x="1005840" y="1207008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Aptos Display"/>
                <a:ea typeface="Aptos Display"/>
              </a:rPr>
              <a:t>中国新能源乘用车渗透率增长是否受到公共充电基础设施约束？</a:t>
            </a:r>
            <a:endParaRPr lang="zh-CN" sz="3000"/>
          </a:p>
        </p:txBody>
      </p:sp>
      <p:sp>
        <p:nvSpPr>
          <p:cNvPr id="5" name="Text 5"/>
          <p:cNvSpPr txBox="1"/>
          <p:nvPr/>
        </p:nvSpPr>
        <p:spPr>
          <a:xfrm>
            <a:off x="1005840" y="281635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500">
                <a:solidFill>
                  <a:srgbClr val="C7D3DE"/>
                </a:solidFill>
                <a:latin typeface="Aptos"/>
                <a:ea typeface="Aptos"/>
              </a:rPr>
              <a:t>研究范围 · 2023–2026｜中国乘用车与公共充电基础设施</a:t>
            </a:r>
            <a:endParaRPr lang="zh-CN" sz="1500"/>
          </a:p>
        </p:txBody>
      </p:sp>
      <p:sp>
        <p:nvSpPr>
          <p:cNvPr id="6" name="Text 6"/>
          <p:cNvSpPr txBox="1"/>
          <p:nvPr/>
        </p:nvSpPr>
        <p:spPr>
          <a:xfrm>
            <a:off x="1005840" y="544068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200" b="1">
                <a:solidFill>
                  <a:srgbClr val="F5B942"/>
                </a:solidFill>
                <a:latin typeface="Aptos Display"/>
                <a:ea typeface="Aptos Display"/>
              </a:rPr>
              <a:t>离线黄金案例 · 使用缓存快照</a:t>
            </a:r>
            <a:endParaRPr lang="zh-CN" sz="1200"/>
          </a:p>
        </p:txBody>
      </p:sp>
      <p:sp>
        <p:nvSpPr>
          <p:cNvPr id="7" name="Text 7"/>
          <p:cNvSpPr txBox="1"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/>
            <a:r>
              <a:rPr lang="zh-CN" sz="900">
                <a:solidFill>
                  <a:srgbClr val="9FB0C0"/>
                </a:solidFill>
                <a:latin typeface="Aptos"/>
                <a:ea typeface="Aptos"/>
              </a:rPr>
              <a:t>01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40080" y="2926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000" b="1">
                <a:solidFill>
                  <a:srgbClr val="22C3A6"/>
                </a:solidFill>
                <a:latin typeface="Aptos Display"/>
                <a:ea typeface="Aptos Display"/>
              </a:rPr>
              <a:t>CORE CONCLUSIONS</a:t>
            </a:r>
            <a:endParaRPr lang="zh-CN" sz="1000"/>
          </a:p>
        </p:txBody>
      </p:sp>
      <p:sp>
        <p:nvSpPr>
          <p:cNvPr id="4" name="Text 4"/>
          <p:cNvSpPr txBox="1"/>
          <p:nvPr/>
        </p:nvSpPr>
        <p:spPr>
          <a:xfrm>
            <a:off x="640080" y="658368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2700" b="1">
                <a:solidFill>
                  <a:srgbClr val="122033"/>
                </a:solidFill>
                <a:latin typeface="Aptos Display"/>
                <a:ea typeface="Aptos Display"/>
              </a:rPr>
              <a:t>核心结论与人工确认状态</a:t>
            </a:r>
            <a:endParaRPr lang="zh-CN" sz="2700"/>
          </a:p>
        </p:txBody>
      </p:sp>
      <p:sp>
        <p:nvSpPr>
          <p:cNvPr id="5" name="Text 5"/>
          <p:cNvSpPr txBox="1"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/>
            <a:r>
              <a:rPr lang="zh-CN" sz="900">
                <a:solidFill>
                  <a:srgbClr val="566579"/>
                </a:solidFill>
                <a:latin typeface="Aptos"/>
                <a:ea typeface="Aptos"/>
              </a:rPr>
              <a:t>02</a:t>
            </a:r>
            <a:endParaRPr lang="zh-CN" sz="900"/>
          </a:p>
        </p:txBody>
      </p:sp>
      <p:sp>
        <p:nvSpPr>
          <p:cNvPr id="6" name="Text 6"/>
          <p:cNvSpPr txBox="1"/>
          <p:nvPr/>
        </p:nvSpPr>
        <p:spPr>
          <a:xfrm>
            <a:off x="658368" y="141732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600" b="1">
                <a:solidFill>
                  <a:srgbClr val="F5B942"/>
                </a:solidFill>
                <a:latin typeface="Aptos Display"/>
                <a:ea typeface="Aptos Display"/>
              </a:rPr>
              <a:t>01</a:t>
            </a:r>
            <a:endParaRPr lang="zh-CN" sz="1600"/>
          </a:p>
        </p:txBody>
      </p:sp>
      <p:sp>
        <p:nvSpPr>
          <p:cNvPr id="7" name="Text 7"/>
          <p:cNvSpPr txBox="1"/>
          <p:nvPr/>
        </p:nvSpPr>
        <p:spPr>
          <a:xfrm>
            <a:off x="1234440" y="1389888"/>
            <a:ext cx="85496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400" b="1">
                <a:solidFill>
                  <a:srgbClr val="122033"/>
                </a:solidFill>
                <a:latin typeface="Aptos Display"/>
                <a:ea typeface="Aptos Display"/>
              </a:rPr>
              <a:t>中国新能源乘用车渗透率增长是否受：2024 渗透率已接近一半，但口径差异必须先解决。</a:t>
            </a:r>
            <a:endParaRPr lang="zh-CN" sz="1400"/>
          </a:p>
        </p:txBody>
      </p:sp>
      <p:sp>
        <p:nvSpPr>
          <p:cNvPr id="8" name="Shape 8"/>
          <p:cNvSpPr/>
          <p:nvPr/>
        </p:nvSpPr>
        <p:spPr>
          <a:xfrm>
            <a:off x="9985248" y="1417320"/>
            <a:ext cx="1508760" cy="310896"/>
          </a:xfrm>
          <a:prstGeom prst="roundRect">
            <a:avLst/>
          </a:prstGeom>
          <a:solidFill>
            <a:srgbClr val="F5B942"/>
          </a:solidFill>
          <a:ln w="9525">
            <a:solidFill>
              <a:srgbClr val="F5B94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10040112" y="1435608"/>
            <a:ext cx="1399032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Aptos Display"/>
                <a:ea typeface="Aptos Display"/>
              </a:rPr>
              <a:t>PENDING_REVIEW</a:t>
            </a:r>
            <a:endParaRPr lang="zh-CN" sz="800"/>
          </a:p>
        </p:txBody>
      </p:sp>
      <p:sp>
        <p:nvSpPr>
          <p:cNvPr id="10" name="Text 10"/>
          <p:cNvSpPr txBox="1"/>
          <p:nvPr/>
        </p:nvSpPr>
        <p:spPr>
          <a:xfrm>
            <a:off x="1234440" y="214884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[S1] [S2]</a:t>
            </a:r>
            <a:endParaRPr lang="zh-CN" sz="800"/>
          </a:p>
        </p:txBody>
      </p:sp>
      <p:sp>
        <p:nvSpPr>
          <p:cNvPr id="11" name="Shape 11"/>
          <p:cNvSpPr/>
          <p:nvPr/>
        </p:nvSpPr>
        <p:spPr>
          <a:xfrm>
            <a:off x="1234440" y="2404872"/>
            <a:ext cx="10149840" cy="7315"/>
          </a:xfrm>
          <a:prstGeom prst="rect">
            <a:avLst/>
          </a:prstGeom>
          <a:solidFill>
            <a:srgbClr val="D8E1E7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258775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600" b="1">
                <a:solidFill>
                  <a:srgbClr val="22C3A6"/>
                </a:solidFill>
                <a:latin typeface="Aptos Display"/>
                <a:ea typeface="Aptos Display"/>
              </a:rPr>
              <a:t>02</a:t>
            </a:r>
            <a:endParaRPr lang="zh-CN" sz="1600"/>
          </a:p>
        </p:txBody>
      </p:sp>
      <p:sp>
        <p:nvSpPr>
          <p:cNvPr id="13" name="Text 13"/>
          <p:cNvSpPr txBox="1"/>
          <p:nvPr/>
        </p:nvSpPr>
        <p:spPr>
          <a:xfrm>
            <a:off x="1234440" y="2560320"/>
            <a:ext cx="85496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400" b="1">
                <a:solidFill>
                  <a:srgbClr val="122033"/>
                </a:solidFill>
                <a:latin typeface="Aptos Display"/>
                <a:ea typeface="Aptos Display"/>
              </a:rPr>
              <a:t>公共充电点增长快于销量基数变化，但地理与利用率错配使名义供给不能直接等同于有效供给。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9985248" y="2587752"/>
            <a:ext cx="1508760" cy="310896"/>
          </a:xfrm>
          <a:prstGeom prst="round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10040112" y="2606040"/>
            <a:ext cx="1399032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Aptos Display"/>
                <a:ea typeface="Aptos Display"/>
              </a:rPr>
              <a:t>PENDING_REVIEW</a:t>
            </a:r>
            <a:endParaRPr lang="zh-CN" sz="800"/>
          </a:p>
        </p:txBody>
      </p:sp>
      <p:sp>
        <p:nvSpPr>
          <p:cNvPr id="16" name="Text 16"/>
          <p:cNvSpPr txBox="1"/>
          <p:nvPr/>
        </p:nvSpPr>
        <p:spPr>
          <a:xfrm>
            <a:off x="1234440" y="331927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[S1] [S2] [S3]</a:t>
            </a:r>
            <a:endParaRPr lang="zh-CN" sz="800"/>
          </a:p>
        </p:txBody>
      </p:sp>
      <p:sp>
        <p:nvSpPr>
          <p:cNvPr id="17" name="Shape 17"/>
          <p:cNvSpPr/>
          <p:nvPr/>
        </p:nvSpPr>
        <p:spPr>
          <a:xfrm>
            <a:off x="1234440" y="3575304"/>
            <a:ext cx="10149840" cy="7315"/>
          </a:xfrm>
          <a:prstGeom prst="rect">
            <a:avLst/>
          </a:prstGeom>
          <a:solidFill>
            <a:srgbClr val="D8E1E7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8" name="Text 18"/>
          <p:cNvSpPr txBox="1"/>
          <p:nvPr/>
        </p:nvSpPr>
        <p:spPr>
          <a:xfrm>
            <a:off x="658368" y="375818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600" b="1">
                <a:solidFill>
                  <a:srgbClr val="22C3A6"/>
                </a:solidFill>
                <a:latin typeface="Aptos Display"/>
                <a:ea typeface="Aptos Display"/>
              </a:rPr>
              <a:t>03</a:t>
            </a:r>
            <a:endParaRPr lang="zh-CN" sz="1600"/>
          </a:p>
        </p:txBody>
      </p:sp>
      <p:sp>
        <p:nvSpPr>
          <p:cNvPr id="19" name="Text 19"/>
          <p:cNvSpPr txBox="1"/>
          <p:nvPr/>
        </p:nvSpPr>
        <p:spPr>
          <a:xfrm>
            <a:off x="1234440" y="3730752"/>
            <a:ext cx="85496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400" b="1">
                <a:solidFill>
                  <a:srgbClr val="122033"/>
                </a:solidFill>
                <a:latin typeface="Aptos Display"/>
                <a:ea typeface="Aptos Display"/>
              </a:rPr>
              <a:t>协会对 2025 年渗透率仍有上行预测，但该预测不能被呈现为已经发生的事实。</a:t>
            </a:r>
            <a:endParaRPr lang="zh-CN" sz="1400"/>
          </a:p>
        </p:txBody>
      </p:sp>
      <p:sp>
        <p:nvSpPr>
          <p:cNvPr id="20" name="Shape 20"/>
          <p:cNvSpPr/>
          <p:nvPr/>
        </p:nvSpPr>
        <p:spPr>
          <a:xfrm>
            <a:off x="9985248" y="3758184"/>
            <a:ext cx="1508760" cy="310896"/>
          </a:xfrm>
          <a:prstGeom prst="round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 21"/>
          <p:cNvSpPr txBox="1"/>
          <p:nvPr/>
        </p:nvSpPr>
        <p:spPr>
          <a:xfrm>
            <a:off x="10040112" y="3776472"/>
            <a:ext cx="1399032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Aptos Display"/>
                <a:ea typeface="Aptos Display"/>
              </a:rPr>
              <a:t>PENDING_REVIEW</a:t>
            </a:r>
            <a:endParaRPr lang="zh-CN" sz="800"/>
          </a:p>
        </p:txBody>
      </p:sp>
      <p:sp>
        <p:nvSpPr>
          <p:cNvPr id="22" name="Text 22"/>
          <p:cNvSpPr txBox="1"/>
          <p:nvPr/>
        </p:nvSpPr>
        <p:spPr>
          <a:xfrm>
            <a:off x="1234440" y="448970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[S1]</a:t>
            </a:r>
            <a:endParaRPr lang="zh-CN" sz="800"/>
          </a:p>
        </p:txBody>
      </p:sp>
      <p:sp>
        <p:nvSpPr>
          <p:cNvPr id="23" name="Shape 23"/>
          <p:cNvSpPr/>
          <p:nvPr/>
        </p:nvSpPr>
        <p:spPr>
          <a:xfrm>
            <a:off x="1234440" y="4745736"/>
            <a:ext cx="10149840" cy="7315"/>
          </a:xfrm>
          <a:prstGeom prst="rect">
            <a:avLst/>
          </a:prstGeom>
          <a:solidFill>
            <a:srgbClr val="D8E1E7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Text 24"/>
          <p:cNvSpPr txBox="1"/>
          <p:nvPr/>
        </p:nvSpPr>
        <p:spPr>
          <a:xfrm>
            <a:off x="658368" y="49286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600" b="1">
                <a:solidFill>
                  <a:srgbClr val="E85D75"/>
                </a:solidFill>
                <a:latin typeface="Aptos Display"/>
                <a:ea typeface="Aptos Display"/>
              </a:rPr>
              <a:t>04</a:t>
            </a:r>
            <a:endParaRPr lang="zh-CN" sz="1600"/>
          </a:p>
        </p:txBody>
      </p:sp>
      <p:sp>
        <p:nvSpPr>
          <p:cNvPr id="25" name="Text 25"/>
          <p:cNvSpPr txBox="1"/>
          <p:nvPr/>
        </p:nvSpPr>
        <p:spPr>
          <a:xfrm>
            <a:off x="1234440" y="4901184"/>
            <a:ext cx="85496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400" b="1">
                <a:solidFill>
                  <a:srgbClr val="122033"/>
                </a:solidFill>
                <a:latin typeface="Aptos Display"/>
                <a:ea typeface="Aptos Display"/>
              </a:rPr>
              <a:t>证据不足：无法判断基础设施扩张是否会在 2025 年普遍提升运营商盈利能力。</a:t>
            </a:r>
            <a:endParaRPr lang="zh-CN" sz="1400"/>
          </a:p>
        </p:txBody>
      </p:sp>
      <p:sp>
        <p:nvSpPr>
          <p:cNvPr id="26" name="Shape 26"/>
          <p:cNvSpPr/>
          <p:nvPr/>
        </p:nvSpPr>
        <p:spPr>
          <a:xfrm>
            <a:off x="9985248" y="4928616"/>
            <a:ext cx="1508760" cy="310896"/>
          </a:xfrm>
          <a:prstGeom prst="roundRect">
            <a:avLst/>
          </a:prstGeom>
          <a:solidFill>
            <a:srgbClr val="E85D75"/>
          </a:solidFill>
          <a:ln w="9525">
            <a:solidFill>
              <a:srgbClr val="E85D75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7" name="Text 27"/>
          <p:cNvSpPr txBox="1"/>
          <p:nvPr/>
        </p:nvSpPr>
        <p:spPr>
          <a:xfrm>
            <a:off x="10040112" y="4946904"/>
            <a:ext cx="1399032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Aptos Display"/>
                <a:ea typeface="Aptos Display"/>
              </a:rPr>
              <a:t>PENDING_REVIEW</a:t>
            </a:r>
            <a:endParaRPr lang="zh-CN" sz="800"/>
          </a:p>
        </p:txBody>
      </p:sp>
      <p:sp>
        <p:nvSpPr>
          <p:cNvPr id="28" name="Text 28"/>
          <p:cNvSpPr txBox="1"/>
          <p:nvPr/>
        </p:nvSpPr>
        <p:spPr>
          <a:xfrm>
            <a:off x="1234440" y="566013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[S1]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40080" y="2926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000" b="1">
                <a:solidFill>
                  <a:srgbClr val="22C3A6"/>
                </a:solidFill>
                <a:latin typeface="Aptos Display"/>
                <a:ea typeface="Aptos Display"/>
              </a:rPr>
              <a:t>DETERMINISTIC CALCULATIONS</a:t>
            </a:r>
            <a:endParaRPr lang="zh-CN" sz="1000"/>
          </a:p>
        </p:txBody>
      </p:sp>
      <p:sp>
        <p:nvSpPr>
          <p:cNvPr id="4" name="Text 4"/>
          <p:cNvSpPr txBox="1"/>
          <p:nvPr/>
        </p:nvSpPr>
        <p:spPr>
          <a:xfrm>
            <a:off x="640080" y="658368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2700" b="1">
                <a:solidFill>
                  <a:srgbClr val="122033"/>
                </a:solidFill>
                <a:latin typeface="Aptos Display"/>
                <a:ea typeface="Aptos Display"/>
              </a:rPr>
              <a:t>关键数据、公式与可重算输入</a:t>
            </a:r>
            <a:endParaRPr lang="zh-CN" sz="2700"/>
          </a:p>
        </p:txBody>
      </p:sp>
      <p:sp>
        <p:nvSpPr>
          <p:cNvPr id="5" name="Text 5"/>
          <p:cNvSpPr txBox="1"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/>
            <a:r>
              <a:rPr lang="zh-CN" sz="900">
                <a:solidFill>
                  <a:srgbClr val="566579"/>
                </a:solidFill>
                <a:latin typeface="Aptos"/>
                <a:ea typeface="Aptos"/>
              </a:rPr>
              <a:t>03</a:t>
            </a:r>
            <a:endParaRPr lang="zh-CN" sz="900"/>
          </a:p>
        </p:txBody>
      </p:sp>
      <p:sp>
        <p:nvSpPr>
          <p:cNvPr id="6" name="Shape 6"/>
          <p:cNvSpPr/>
          <p:nvPr/>
        </p:nvSpPr>
        <p:spPr>
          <a:xfrm>
            <a:off x="685800" y="1508760"/>
            <a:ext cx="5257800" cy="3200400"/>
          </a:xfrm>
          <a:prstGeom prst="roundRect">
            <a:avLst/>
          </a:prstGeom>
          <a:solidFill>
            <a:srgbClr val="EEF4F7"/>
          </a:solidFill>
          <a:ln w="9525">
            <a:solidFill>
              <a:srgbClr val="D5E2E8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1051560" y="182880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3800" b="1">
                <a:solidFill>
                  <a:srgbClr val="122033"/>
                </a:solidFill>
                <a:latin typeface="Aptos Display"/>
                <a:ea typeface="Aptos Display"/>
              </a:rPr>
              <a:t>37.1%</a:t>
            </a:r>
            <a:endParaRPr lang="zh-CN" sz="3800"/>
          </a:p>
        </p:txBody>
      </p:sp>
      <p:sp>
        <p:nvSpPr>
          <p:cNvPr id="8" name="Text 8"/>
          <p:cNvSpPr txBox="1"/>
          <p:nvPr/>
        </p:nvSpPr>
        <p:spPr>
          <a:xfrm>
            <a:off x="1051560" y="265176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1500" b="1">
                <a:solidFill>
                  <a:srgbClr val="566579"/>
                </a:solidFill>
                <a:latin typeface="Aptos Display"/>
                <a:ea typeface="Aptos Display"/>
              </a:rPr>
              <a:t>2024 新能源汽车份额（预测输入）</a:t>
            </a:r>
            <a:endParaRPr lang="zh-CN" sz="1500"/>
          </a:p>
        </p:txBody>
      </p:sp>
      <p:sp>
        <p:nvSpPr>
          <p:cNvPr id="9" name="Text 9"/>
          <p:cNvSpPr txBox="1"/>
          <p:nvPr/>
        </p:nvSpPr>
        <p:spPr>
          <a:xfrm>
            <a:off x="1024128" y="3246120"/>
            <a:ext cx="4407408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100">
                <a:solidFill>
                  <a:srgbClr val="566579"/>
                </a:solidFill>
                <a:latin typeface="Aptos"/>
                <a:ea typeface="Aptos"/>
              </a:rPr>
              <a:t>nev_sales_million / total_auto_sales_million * 100</a:t>
            </a:r>
            <a:endParaRPr lang="zh-CN" sz="1100"/>
          </a:p>
          <a:p>
            <a:pPr algn="l"/>
            <a:r>
              <a:rPr lang="zh-CN" sz="1100">
                <a:solidFill>
                  <a:srgbClr val="566579"/>
                </a:solidFill>
                <a:latin typeface="Aptos"/>
                <a:ea typeface="Aptos"/>
              </a:rPr>
              <a:t>输入：新能源汽车预测销量=11.5百万辆；汽车预测总销量=31百万辆</a:t>
            </a:r>
            <a:endParaRPr lang="zh-CN" sz="1100"/>
          </a:p>
        </p:txBody>
      </p:sp>
      <p:sp>
        <p:nvSpPr>
          <p:cNvPr id="10" name="Shape 10"/>
          <p:cNvSpPr/>
          <p:nvPr/>
        </p:nvSpPr>
        <p:spPr>
          <a:xfrm>
            <a:off x="6263640" y="1508760"/>
            <a:ext cx="5257800" cy="3200400"/>
          </a:xfrm>
          <a:prstGeom prst="roundRect">
            <a:avLst/>
          </a:prstGeom>
          <a:solidFill>
            <a:srgbClr val="FFF7E5"/>
          </a:solidFill>
          <a:ln w="9525">
            <a:solidFill>
              <a:srgbClr val="F4DCA4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ext 11"/>
          <p:cNvSpPr txBox="1"/>
          <p:nvPr/>
        </p:nvSpPr>
        <p:spPr>
          <a:xfrm>
            <a:off x="6629400" y="182880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3400" b="1">
                <a:solidFill>
                  <a:srgbClr val="122033"/>
                </a:solidFill>
                <a:latin typeface="Aptos Display"/>
                <a:ea typeface="Aptos Display"/>
              </a:rPr>
              <a:t>3.04 百万</a:t>
            </a:r>
            <a:endParaRPr lang="zh-CN" sz="3400"/>
          </a:p>
        </p:txBody>
      </p:sp>
      <p:sp>
        <p:nvSpPr>
          <p:cNvPr id="12" name="Text 12"/>
          <p:cNvSpPr txBox="1"/>
          <p:nvPr/>
        </p:nvSpPr>
        <p:spPr>
          <a:xfrm>
            <a:off x="6629400" y="265176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1400" b="1">
                <a:solidFill>
                  <a:srgbClr val="566579"/>
                </a:solidFill>
                <a:latin typeface="Aptos Display"/>
                <a:ea typeface="Aptos Display"/>
              </a:rPr>
              <a:t>风险调整后可有效服务充电点（估算）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6601968" y="3246120"/>
            <a:ext cx="4407408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100">
                <a:solidFill>
                  <a:srgbClr val="566579"/>
                </a:solidFill>
                <a:latin typeface="Aptos"/>
                <a:ea typeface="Aptos"/>
              </a:rPr>
              <a:t>public_chargers_million * (1 - utilization_gap_assumption)</a:t>
            </a:r>
            <a:endParaRPr lang="zh-CN" sz="1100"/>
          </a:p>
          <a:p>
            <a:pPr algn="l"/>
            <a:r>
              <a:rPr lang="zh-CN" sz="1100">
                <a:solidFill>
                  <a:srgbClr val="566579"/>
                </a:solidFill>
                <a:latin typeface="Aptos"/>
                <a:ea typeface="Aptos"/>
              </a:rPr>
              <a:t>假设：15% 利用率折损为黄金案例演示假设，不代表行业统一口径</a:t>
            </a:r>
            <a:endParaRPr lang="zh-CN" sz="1100"/>
          </a:p>
        </p:txBody>
      </p:sp>
      <p:sp>
        <p:nvSpPr>
          <p:cNvPr id="14" name="Text 14"/>
          <p:cNvSpPr txBox="1"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>
                <a:solidFill>
                  <a:srgbClr val="566579"/>
                </a:solidFill>
                <a:latin typeface="Aptos"/>
                <a:ea typeface="Aptos"/>
              </a:rPr>
              <a:t>计算来源：market_v1.csv｜中汽协与中国充电联盟公开资料的结构化离线摘录</a:t>
            </a:r>
            <a:endParaRPr lang="zh-C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40080" y="2926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000" b="1">
                <a:solidFill>
                  <a:srgbClr val="22C3A6"/>
                </a:solidFill>
                <a:latin typeface="Aptos Display"/>
                <a:ea typeface="Aptos Display"/>
              </a:rPr>
              <a:t>BOUNDARIES</a:t>
            </a:r>
            <a:endParaRPr lang="zh-CN" sz="1000"/>
          </a:p>
        </p:txBody>
      </p:sp>
      <p:sp>
        <p:nvSpPr>
          <p:cNvPr id="4" name="Text 4"/>
          <p:cNvSpPr txBox="1"/>
          <p:nvPr/>
        </p:nvSpPr>
        <p:spPr>
          <a:xfrm>
            <a:off x="640080" y="658368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2700" b="1">
                <a:solidFill>
                  <a:srgbClr val="122033"/>
                </a:solidFill>
                <a:latin typeface="Aptos Display"/>
                <a:ea typeface="Aptos Display"/>
              </a:rPr>
              <a:t>冲突、假设与证据不足</a:t>
            </a:r>
            <a:endParaRPr lang="zh-CN" sz="2700"/>
          </a:p>
        </p:txBody>
      </p:sp>
      <p:sp>
        <p:nvSpPr>
          <p:cNvPr id="5" name="Text 5"/>
          <p:cNvSpPr txBox="1"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/>
            <a:r>
              <a:rPr lang="zh-CN" sz="900">
                <a:solidFill>
                  <a:srgbClr val="566579"/>
                </a:solidFill>
                <a:latin typeface="Aptos"/>
                <a:ea typeface="Aptos"/>
              </a:rPr>
              <a:t>04</a:t>
            </a:r>
            <a:endParaRPr lang="zh-CN" sz="900"/>
          </a:p>
        </p:txBody>
      </p:sp>
      <p:sp>
        <p:nvSpPr>
          <p:cNvPr id="6" name="Text 6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2000" b="1">
                <a:solidFill>
                  <a:srgbClr val="F5B942"/>
                </a:solidFill>
                <a:latin typeface="Aptos Display"/>
                <a:ea typeface="Aptos Display"/>
              </a:rPr>
              <a:t>来源冲突</a:t>
            </a:r>
            <a:endParaRPr lang="zh-CN" sz="2000"/>
          </a:p>
        </p:txBody>
      </p:sp>
      <p:sp>
        <p:nvSpPr>
          <p:cNvPr id="7" name="Text 7"/>
          <p:cNvSpPr txBox="1"/>
          <p:nvPr/>
        </p:nvSpPr>
        <p:spPr>
          <a:xfrm>
            <a:off x="731520" y="1965960"/>
            <a:ext cx="5166360" cy="12344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400">
                <a:solidFill>
                  <a:srgbClr val="122033"/>
                </a:solidFill>
                <a:latin typeface="Aptos"/>
                <a:ea typeface="Aptos"/>
              </a:rPr>
              <a:t>中汽协预测输入按全汽车销量重算为 37.1%，乘联分会按乘用车国内零售报告为 47.6%；总体/乘用车与销量/零售范围不同。这是候选解释，不能静默选值。</a:t>
            </a:r>
            <a:endParaRPr lang="zh-CN" sz="1400"/>
          </a:p>
        </p:txBody>
      </p:sp>
      <p:sp>
        <p:nvSpPr>
          <p:cNvPr id="8" name="Text 8"/>
          <p:cNvSpPr txBox="1"/>
          <p:nvPr/>
        </p:nvSpPr>
        <p:spPr>
          <a:xfrm>
            <a:off x="731520" y="3383280"/>
            <a:ext cx="516636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100" b="1">
                <a:solidFill>
                  <a:srgbClr val="566579"/>
                </a:solidFill>
                <a:latin typeface="Aptos Display"/>
                <a:ea typeface="Aptos Display"/>
              </a:rPr>
              <a:t>CANDIDATE_EXPLANATION</a:t>
            </a:r>
            <a:endParaRPr lang="zh-CN" sz="1100"/>
          </a:p>
          <a:p>
            <a:pPr algn="l"/>
            <a:r>
              <a:rPr lang="zh-CN" sz="1100" b="1">
                <a:solidFill>
                  <a:srgbClr val="566579"/>
                </a:solidFill>
                <a:latin typeface="Aptos Display"/>
                <a:ea typeface="Aptos Display"/>
              </a:rPr>
              <a:t>保留双方数值，不静默取值，不求平均。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089904" y="1481328"/>
            <a:ext cx="10973" cy="4297680"/>
          </a:xfrm>
          <a:prstGeom prst="rect">
            <a:avLst/>
          </a:prstGeom>
          <a:solidFill>
            <a:srgbClr val="D8E1E7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0" name="Text 10"/>
          <p:cNvSpPr txBox="1"/>
          <p:nvPr/>
        </p:nvSpPr>
        <p:spPr>
          <a:xfrm>
            <a:off x="6446520" y="1508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2000" b="1">
                <a:solidFill>
                  <a:srgbClr val="E85D75"/>
                </a:solidFill>
                <a:latin typeface="Aptos Display"/>
                <a:ea typeface="Aptos Display"/>
              </a:rPr>
              <a:t>证据不足</a:t>
            </a:r>
            <a:endParaRPr lang="zh-CN" sz="2000"/>
          </a:p>
        </p:txBody>
      </p:sp>
      <p:sp>
        <p:nvSpPr>
          <p:cNvPr id="11" name="Text 11"/>
          <p:cNvSpPr txBox="1"/>
          <p:nvPr/>
        </p:nvSpPr>
        <p:spPr>
          <a:xfrm>
            <a:off x="6446520" y="196596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400">
                <a:solidFill>
                  <a:srgbClr val="122033"/>
                </a:solidFill>
                <a:latin typeface="Aptos"/>
                <a:ea typeface="Aptos"/>
              </a:rPr>
              <a:t>证据不足：无法判断基础设施扩张是否会在 2025 年普遍提升运营商盈利能力。</a:t>
            </a:r>
            <a:endParaRPr lang="zh-CN" sz="1400"/>
          </a:p>
        </p:txBody>
      </p:sp>
      <p:sp>
        <p:nvSpPr>
          <p:cNvPr id="12" name="Shape 12"/>
          <p:cNvSpPr/>
          <p:nvPr/>
        </p:nvSpPr>
        <p:spPr>
          <a:xfrm>
            <a:off x="6446520" y="3337560"/>
            <a:ext cx="2240280" cy="329184"/>
          </a:xfrm>
          <a:prstGeom prst="roundRect">
            <a:avLst/>
          </a:prstGeom>
          <a:solidFill>
            <a:srgbClr val="E85D75"/>
          </a:solidFill>
          <a:ln w="9525">
            <a:solidFill>
              <a:srgbClr val="E85D75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6519672" y="3383280"/>
            <a:ext cx="209397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Aptos Display"/>
                <a:ea typeface="Aptos Display"/>
              </a:rPr>
              <a:t>INSUFFICIENT_EVIDENCE</a:t>
            </a:r>
            <a:endParaRPr lang="zh-CN" sz="800"/>
          </a:p>
        </p:txBody>
      </p:sp>
      <p:sp>
        <p:nvSpPr>
          <p:cNvPr id="14" name="Text 14"/>
          <p:cNvSpPr txBox="1"/>
          <p:nvPr/>
        </p:nvSpPr>
        <p:spPr>
          <a:xfrm>
            <a:off x="6446520" y="3867912"/>
            <a:ext cx="4846320" cy="6949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zh-CN" sz="1100" b="1">
                <a:solidFill>
                  <a:srgbClr val="E85D75"/>
                </a:solidFill>
                <a:latin typeface="Aptos Display"/>
                <a:ea typeface="Aptos Display"/>
              </a:rPr>
              <a:t>缺少：运营商盈利数据；区域利用率数据；成本与电价口径</a:t>
            </a:r>
            <a:endParaRPr lang="zh-CN" sz="1100"/>
          </a:p>
        </p:txBody>
      </p:sp>
      <p:sp>
        <p:nvSpPr>
          <p:cNvPr id="15" name="Text 15"/>
          <p:cNvSpPr txBox="1"/>
          <p:nvPr/>
        </p:nvSpPr>
        <p:spPr>
          <a:xfrm>
            <a:off x="6446520" y="48006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>
                <a:solidFill>
                  <a:srgbClr val="566579"/>
                </a:solidFill>
                <a:latin typeface="Aptos"/>
                <a:ea typeface="Aptos"/>
              </a:rPr>
              <a:t>状态保留在报告、PPTX 与 JSON；禁止自动确认。</a:t>
            </a:r>
            <a:endParaRPr lang="zh-C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3A6"/>
          </a:solidFill>
          <a:ln w="9525">
            <a:solidFill>
              <a:srgbClr val="22C3A6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40080" y="2926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000" b="1">
                <a:solidFill>
                  <a:srgbClr val="22C3A6"/>
                </a:solidFill>
                <a:latin typeface="Aptos Display"/>
                <a:ea typeface="Aptos Display"/>
              </a:rPr>
              <a:t>TRACEABILITY</a:t>
            </a:r>
            <a:endParaRPr lang="zh-CN" sz="1000"/>
          </a:p>
        </p:txBody>
      </p:sp>
      <p:sp>
        <p:nvSpPr>
          <p:cNvPr id="4" name="Text 4"/>
          <p:cNvSpPr txBox="1"/>
          <p:nvPr/>
        </p:nvSpPr>
        <p:spPr>
          <a:xfrm>
            <a:off x="640080" y="658368"/>
            <a:ext cx="10515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2700" b="1">
                <a:solidFill>
                  <a:srgbClr val="122033"/>
                </a:solidFill>
                <a:latin typeface="Aptos Display"/>
                <a:ea typeface="Aptos Display"/>
              </a:rPr>
              <a:t>来源、定位与最终责任</a:t>
            </a:r>
            <a:endParaRPr lang="zh-CN" sz="2700"/>
          </a:p>
        </p:txBody>
      </p:sp>
      <p:sp>
        <p:nvSpPr>
          <p:cNvPr id="5" name="Text 5"/>
          <p:cNvSpPr txBox="1"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/>
            <a:r>
              <a:rPr lang="zh-CN" sz="900">
                <a:solidFill>
                  <a:srgbClr val="566579"/>
                </a:solidFill>
                <a:latin typeface="Aptos"/>
                <a:ea typeface="Aptos"/>
              </a:rPr>
              <a:t>05</a:t>
            </a:r>
            <a:endParaRPr lang="zh-CN" sz="900"/>
          </a:p>
        </p:txBody>
      </p:sp>
      <p:sp>
        <p:nvSpPr>
          <p:cNvPr id="6" name="Text 6"/>
          <p:cNvSpPr txBox="1"/>
          <p:nvPr/>
        </p:nvSpPr>
        <p:spPr>
          <a:xfrm>
            <a:off x="685800" y="14173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 b="1">
                <a:solidFill>
                  <a:srgbClr val="22C3A6"/>
                </a:solidFill>
                <a:latin typeface="Aptos Display"/>
                <a:ea typeface="Aptos Display"/>
              </a:rPr>
              <a:t>[S1]</a:t>
            </a:r>
            <a:endParaRPr lang="zh-CN" sz="1100"/>
          </a:p>
        </p:txBody>
      </p:sp>
      <p:sp>
        <p:nvSpPr>
          <p:cNvPr id="7" name="Text 7"/>
          <p:cNvSpPr txBox="1"/>
          <p:nvPr/>
        </p:nvSpPr>
        <p:spPr>
          <a:xfrm>
            <a:off x="1325880" y="1417320"/>
            <a:ext cx="68122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200" b="1">
                <a:solidFill>
                  <a:srgbClr val="122033"/>
                </a:solidFill>
                <a:latin typeface="Aptos Display"/>
                <a:ea typeface="Aptos Display"/>
              </a:rPr>
              <a:t>2024年12月份全国乘用车市场分析</a:t>
            </a:r>
            <a:endParaRPr lang="zh-CN" sz="1200"/>
          </a:p>
        </p:txBody>
      </p:sp>
      <p:sp>
        <p:nvSpPr>
          <p:cNvPr id="8" name="Text 8"/>
          <p:cNvSpPr txBox="1"/>
          <p:nvPr/>
        </p:nvSpPr>
        <p:spPr>
          <a:xfrm>
            <a:off x="1325880" y="1746504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https://www.cada.cn/Trends/info_91_10118.html</a:t>
            </a:r>
            <a:endParaRPr lang="zh-CN" sz="800"/>
          </a:p>
        </p:txBody>
      </p:sp>
      <p:sp>
        <p:nvSpPr>
          <p:cNvPr id="9" name="Text 9"/>
          <p:cNvSpPr txBox="1"/>
          <p:nvPr/>
        </p:nvSpPr>
        <p:spPr>
          <a:xfrm>
            <a:off x="685800" y="228600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 b="1">
                <a:solidFill>
                  <a:srgbClr val="22C3A6"/>
                </a:solidFill>
                <a:latin typeface="Aptos Display"/>
                <a:ea typeface="Aptos Display"/>
              </a:rPr>
              <a:t>[S2]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1325880" y="2286000"/>
            <a:ext cx="68122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200" b="1">
                <a:solidFill>
                  <a:srgbClr val="122033"/>
                </a:solidFill>
                <a:latin typeface="Aptos Display"/>
                <a:ea typeface="Aptos Display"/>
              </a:rPr>
              <a:t>乘联分会2025年新能源乘用车市场预测</a:t>
            </a:r>
            <a:endParaRPr lang="zh-CN" sz="1200"/>
          </a:p>
        </p:txBody>
      </p:sp>
      <p:sp>
        <p:nvSpPr>
          <p:cNvPr id="11" name="Text 11"/>
          <p:cNvSpPr txBox="1"/>
          <p:nvPr/>
        </p:nvSpPr>
        <p:spPr>
          <a:xfrm>
            <a:off x="1325880" y="2615184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https://www.cada.cn/Trends/info_91_10118.html</a:t>
            </a:r>
            <a:endParaRPr lang="zh-CN" sz="800"/>
          </a:p>
        </p:txBody>
      </p:sp>
      <p:sp>
        <p:nvSpPr>
          <p:cNvPr id="12" name="Text 12"/>
          <p:cNvSpPr txBox="1"/>
          <p:nvPr/>
        </p:nvSpPr>
        <p:spPr>
          <a:xfrm>
            <a:off x="685800" y="315468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 b="1">
                <a:solidFill>
                  <a:srgbClr val="22C3A6"/>
                </a:solidFill>
                <a:latin typeface="Aptos Display"/>
                <a:ea typeface="Aptos Display"/>
              </a:rPr>
              <a:t>[S3]</a:t>
            </a:r>
            <a:endParaRPr lang="zh-CN" sz="1100"/>
          </a:p>
        </p:txBody>
      </p:sp>
      <p:sp>
        <p:nvSpPr>
          <p:cNvPr id="13" name="Text 13"/>
          <p:cNvSpPr txBox="1"/>
          <p:nvPr/>
        </p:nvSpPr>
        <p:spPr>
          <a:xfrm>
            <a:off x="1325880" y="3154680"/>
            <a:ext cx="68122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200" b="1">
                <a:solidFill>
                  <a:srgbClr val="122033"/>
                </a:solidFill>
                <a:latin typeface="Aptos Display"/>
                <a:ea typeface="Aptos Display"/>
              </a:rPr>
              <a:t>2024年全国电动汽车充换电基础设施运行情况</a:t>
            </a:r>
            <a:endParaRPr lang="zh-CN" sz="1200"/>
          </a:p>
        </p:txBody>
      </p:sp>
      <p:sp>
        <p:nvSpPr>
          <p:cNvPr id="14" name="Text 14"/>
          <p:cNvSpPr txBox="1"/>
          <p:nvPr/>
        </p:nvSpPr>
        <p:spPr>
          <a:xfrm>
            <a:off x="1325880" y="3483864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https://www.evcipa.org.cn/newsinfo/8137834.html</a:t>
            </a:r>
            <a:endParaRPr lang="zh-CN" sz="800"/>
          </a:p>
        </p:txBody>
      </p:sp>
      <p:sp>
        <p:nvSpPr>
          <p:cNvPr id="15" name="Text 15"/>
          <p:cNvSpPr txBox="1"/>
          <p:nvPr/>
        </p:nvSpPr>
        <p:spPr>
          <a:xfrm>
            <a:off x="685800" y="40233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 b="1">
                <a:solidFill>
                  <a:srgbClr val="22C3A6"/>
                </a:solidFill>
                <a:latin typeface="Aptos Display"/>
                <a:ea typeface="Aptos Display"/>
              </a:rPr>
              <a:t>[S4]</a:t>
            </a:r>
            <a:endParaRPr lang="zh-CN" sz="1100"/>
          </a:p>
        </p:txBody>
      </p:sp>
      <p:sp>
        <p:nvSpPr>
          <p:cNvPr id="16" name="Text 16"/>
          <p:cNvSpPr txBox="1"/>
          <p:nvPr/>
        </p:nvSpPr>
        <p:spPr>
          <a:xfrm>
            <a:off x="1325880" y="4023360"/>
            <a:ext cx="68122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200" b="1">
                <a:solidFill>
                  <a:srgbClr val="122033"/>
                </a:solidFill>
                <a:latin typeface="Aptos Display"/>
                <a:ea typeface="Aptos Display"/>
              </a:rPr>
              <a:t>Authority Source Snapshot: China NEV and Charging Data</a:t>
            </a:r>
            <a:endParaRPr lang="zh-CN" sz="1200"/>
          </a:p>
        </p:txBody>
      </p:sp>
      <p:sp>
        <p:nvSpPr>
          <p:cNvPr id="17" name="Text 17"/>
          <p:cNvSpPr txBox="1"/>
          <p:nvPr/>
        </p:nvSpPr>
        <p:spPr>
          <a:xfrm>
            <a:off x="1325880" y="4352544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market-brief.pdf · p.1</a:t>
            </a:r>
            <a:endParaRPr lang="zh-CN" sz="800"/>
          </a:p>
        </p:txBody>
      </p:sp>
      <p:sp>
        <p:nvSpPr>
          <p:cNvPr id="18" name="Text 18"/>
          <p:cNvSpPr txBox="1"/>
          <p:nvPr/>
        </p:nvSpPr>
        <p:spPr>
          <a:xfrm>
            <a:off x="685800" y="48920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100" b="1">
                <a:solidFill>
                  <a:srgbClr val="22C3A6"/>
                </a:solidFill>
                <a:latin typeface="Aptos Display"/>
                <a:ea typeface="Aptos Display"/>
              </a:rPr>
              <a:t>[S5]</a:t>
            </a:r>
            <a:endParaRPr lang="zh-CN" sz="1100"/>
          </a:p>
        </p:txBody>
      </p:sp>
      <p:sp>
        <p:nvSpPr>
          <p:cNvPr id="19" name="Text 19"/>
          <p:cNvSpPr txBox="1"/>
          <p:nvPr/>
        </p:nvSpPr>
        <p:spPr>
          <a:xfrm>
            <a:off x="1325880" y="4892040"/>
            <a:ext cx="68122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1200" b="1">
                <a:solidFill>
                  <a:srgbClr val="122033"/>
                </a:solidFill>
                <a:latin typeface="Aptos Display"/>
                <a:ea typeface="Aptos Display"/>
              </a:rPr>
              <a:t>Official NEV/charging structured extract — 2024 forecast</a:t>
            </a:r>
            <a:endParaRPr lang="zh-CN" sz="1200"/>
          </a:p>
        </p:txBody>
      </p:sp>
      <p:sp>
        <p:nvSpPr>
          <p:cNvPr id="20" name="Text 20"/>
          <p:cNvSpPr txBox="1"/>
          <p:nvPr/>
        </p:nvSpPr>
        <p:spPr>
          <a:xfrm>
            <a:off x="1325880" y="5221224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/>
            <a:r>
              <a:rPr lang="zh-CN" sz="800">
                <a:solidFill>
                  <a:srgbClr val="566579"/>
                </a:solidFill>
                <a:latin typeface="Aptos"/>
                <a:ea typeface="Aptos"/>
              </a:rPr>
              <a:t>https://www.caam.org.cn/chn/1/cate_3/con_5236311.html</a:t>
            </a:r>
            <a:endParaRPr lang="zh-CN" sz="800"/>
          </a:p>
        </p:txBody>
      </p:sp>
      <p:sp>
        <p:nvSpPr>
          <p:cNvPr id="21" name="Shape 21"/>
          <p:cNvSpPr/>
          <p:nvPr/>
        </p:nvSpPr>
        <p:spPr>
          <a:xfrm>
            <a:off x="8823960" y="1417320"/>
            <a:ext cx="2606040" cy="3566160"/>
          </a:xfrm>
          <a:prstGeom prst="roundRect">
            <a:avLst/>
          </a:prstGeom>
          <a:solidFill>
            <a:srgbClr val="122033"/>
          </a:solidFill>
          <a:ln w="9525">
            <a:solidFill>
              <a:srgbClr val="122033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2" name="Text 22"/>
          <p:cNvSpPr txBox="1"/>
          <p:nvPr/>
        </p:nvSpPr>
        <p:spPr>
          <a:xfrm>
            <a:off x="9189720" y="1874520"/>
            <a:ext cx="1874520" cy="2468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ptos Display"/>
                <a:ea typeface="Aptos Display"/>
              </a:rPr>
              <a:t>AI 生成候选判断</a:t>
            </a:r>
            <a:endParaRPr lang="zh-CN" sz="1600"/>
          </a:p>
          <a:p>
            <a:pPr algn="ctr"/>
            <a:r>
              <a:rPr lang="zh-CN" sz="1600" b="1">
                <a:solidFill>
                  <a:srgbClr val="FFFFFF"/>
                </a:solidFill>
                <a:latin typeface="Aptos Display"/>
                <a:ea typeface="Aptos Display"/>
              </a:rPr>
              <a:t/>
            </a:r>
            <a:endParaRPr lang="zh-CN" sz="1600"/>
          </a:p>
          <a:p>
            <a:pPr algn="ctr"/>
            <a:r>
              <a:rPr lang="zh-CN" sz="1600" b="1">
                <a:solidFill>
                  <a:srgbClr val="FFFFFF"/>
                </a:solidFill>
                <a:latin typeface="Aptos Display"/>
                <a:ea typeface="Aptos Display"/>
              </a:rPr>
              <a:t>确定性规则审计</a:t>
            </a:r>
            <a:endParaRPr lang="zh-CN" sz="1600"/>
          </a:p>
          <a:p>
            <a:pPr algn="ctr"/>
            <a:r>
              <a:rPr lang="zh-CN" sz="1600" b="1">
                <a:solidFill>
                  <a:srgbClr val="FFFFFF"/>
                </a:solidFill>
                <a:latin typeface="Aptos Display"/>
                <a:ea typeface="Aptos Display"/>
              </a:rPr>
              <a:t/>
            </a:r>
            <a:endParaRPr lang="zh-CN" sz="1600"/>
          </a:p>
          <a:p>
            <a:pPr algn="ctr"/>
            <a:r>
              <a:rPr lang="zh-CN" sz="1600" b="1">
                <a:solidFill>
                  <a:srgbClr val="FFFFFF"/>
                </a:solidFill>
                <a:latin typeface="Aptos Display"/>
                <a:ea typeface="Aptos Display"/>
              </a:rPr>
              <a:t>人确认最终结论</a:t>
            </a:r>
            <a:endParaRPr lang="zh-CN" sz="1600"/>
          </a:p>
        </p:txBody>
      </p:sp>
      <p:sp>
        <p:nvSpPr>
          <p:cNvPr id="23" name="Text 23"/>
          <p:cNvSpPr txBox="1"/>
          <p:nvPr/>
        </p:nvSpPr>
        <p:spPr>
          <a:xfrm>
            <a:off x="9006840" y="525780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lang="zh-CN" sz="1000" b="1">
                <a:solidFill>
                  <a:srgbClr val="E85D75"/>
                </a:solidFill>
                <a:latin typeface="Aptos Display"/>
                <a:ea typeface="Aptos Display"/>
              </a:rPr>
              <a:t>未确认内容不冒充最终结论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ightForge">
  <a:themeElements>
    <a:clrScheme name="InsightForge">
      <a:dk1>
        <a:srgbClr val="122033"/>
      </a:dk1>
      <a:lt1>
        <a:srgbClr val="FFFFFF"/>
      </a:lt1>
      <a:dk2>
        <a:srgbClr val="566579"/>
      </a:dk2>
      <a:lt2>
        <a:srgbClr val="EEF4F7"/>
      </a:lt2>
      <a:accent1>
        <a:srgbClr val="22C3A6"/>
      </a:accent1>
      <a:accent2>
        <a:srgbClr val="F5B942"/>
      </a:accent2>
      <a:accent3>
        <a:srgbClr val="E85D75"/>
      </a:accent3>
      <a:accent4>
        <a:srgbClr val="4D7CFE"/>
      </a:accent4>
      <a:accent5>
        <a:srgbClr val="566579"/>
      </a:accent5>
      <a:accent6>
        <a:srgbClr val="D8E1E7"/>
      </a:accent6>
      <a:hlink>
        <a:srgbClr val="0000FF"/>
      </a:hlink>
      <a:folHlink>
        <a:srgbClr val="800080"/>
      </a:folHlink>
    </a:clrScheme>
    <a:fontScheme name="Aptos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InsightFor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raClrSchemeLst/>
</a:theme>
</file>

<file path=docProps/app.xml><?xml version="1.0" encoding="utf-8"?>
<Properties xmlns="http://schemas.openxmlformats.org/officeDocument/2006/extended-properties">
  <Application>InsightForge</Application>
  <PresentationFormat>On-screen Show (16:9)</PresentationFormat>
  <Slides>5</Slides>
  <Company>InsightForge</Company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中国新能源乘用车渗透率增长是否受到公共充电基础设施约束？</dc:title>
  <dc:subject>Evidence-native industry research</dc:subject>
  <dc:creator>InsightForge</dc:creator>
  <dcterms:created xsi:type="dcterms:W3CDTF">2026-08-27T03:57:28.589Z</dcterms:created>
  <dcterms:modified xsi:type="dcterms:W3CDTF">2026-08-27T03:57:28.589Z</dcterms:modified>
</cp:coreProperties>
</file>