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zh-CN"/>
    </a:def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p:cViewPr varScale="1">
        <p:scale>
          <a:sx n="120" d="100"/>
          <a:sy n="120" d="100"/>
        </p:scale>
        <p:origin x="8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2033"/>
        </a:solidFill>
        <a:effectLst/>
      </p:bgPr>
    </p:bg>
    <p:spTree>
      <p:nvGrpSpPr>
        <p:cNvPr id="1" name=""/>
        <p:cNvGrpSpPr/>
        <p:nvPr/>
      </p:nvGrpSpPr>
      <p:grpSpPr>
        <a:xfrm>
          <a:off x="0" y="0"/>
          <a:ext cx="0" cy="0"/>
          <a:chOff x="0" y="0"/>
          <a:chExt cx="0" cy="0"/>
        </a:xfrm>
      </p:grpSpPr>
      <p:sp>
        <p:nvSpPr>
          <p:cNvPr id="2" name="Shape 2"/>
          <p:cNvSpPr/>
          <p:nvPr/>
        </p:nvSpPr>
        <p:spPr>
          <a:xfrm>
            <a:off x="658368" y="658368"/>
            <a:ext cx="118872" cy="1097280"/>
          </a:xfrm>
          <a:prstGeom prst="rect">
            <a:avLst/>
          </a:prstGeom>
          <a:solidFill>
            <a:srgbClr val="22C3A6"/>
          </a:solidFill>
          <a:ln w="9525">
            <a:solidFill>
              <a:srgbClr val="22C3A6"/>
            </a:solidFill>
          </a:ln>
        </p:spPr>
        <p:txBody>
          <a:bodyPr/>
          <a:lstStyle/>
          <a:p>
            <a:endParaRPr lang="zh-CN"/>
          </a:p>
        </p:txBody>
      </p:sp>
      <p:sp>
        <p:nvSpPr>
          <p:cNvPr id="3" name="Text 3"/>
          <p:cNvSpPr txBox="1"/>
          <p:nvPr/>
        </p:nvSpPr>
        <p:spPr>
          <a:xfrm>
            <a:off x="1005840" y="704088"/>
            <a:ext cx="4206240" cy="310896"/>
          </a:xfrm>
          <a:prstGeom prst="rect">
            <a:avLst/>
          </a:prstGeom>
          <a:noFill/>
          <a:ln>
            <a:noFill/>
          </a:ln>
        </p:spPr>
        <p:txBody>
          <a:bodyPr wrap="square" lIns="27432" tIns="27432" rIns="27432" bIns="27432" anchor="ctr">
            <a:normAutofit/>
          </a:bodyPr>
          <a:lstStyle/>
          <a:p>
            <a:pPr algn="l"/>
            <a:r>
              <a:rPr lang="en" altLang="zh-CN" sz="1100" b="1">
                <a:solidFill>
                  <a:srgbClr val="22C3A6"/>
                </a:solidFill>
                <a:latin typeface="Aptos Display"/>
                <a:ea typeface="Arial Unicode MS"/>
              </a:rPr>
              <a:t>OFFICE EDIT CHECK</a:t>
            </a:r>
            <a:endParaRPr lang="zh-CN" sz="1100"/>
          </a:p>
        </p:txBody>
      </p:sp>
      <p:sp>
        <p:nvSpPr>
          <p:cNvPr id="4" name="Text 4"/>
          <p:cNvSpPr txBox="1"/>
          <p:nvPr/>
        </p:nvSpPr>
        <p:spPr>
          <a:xfrm>
            <a:off x="1005840" y="1207008"/>
            <a:ext cx="9966960" cy="1417320"/>
          </a:xfrm>
          <a:prstGeom prst="rect">
            <a:avLst/>
          </a:prstGeom>
          <a:noFill/>
          <a:ln>
            <a:noFill/>
          </a:ln>
        </p:spPr>
        <p:txBody>
          <a:bodyPr wrap="square" lIns="27432" tIns="27432" rIns="27432" bIns="27432" anchor="ctr">
            <a:normAutofit/>
          </a:bodyPr>
          <a:lstStyle/>
          <a:p>
            <a:pPr algn="l"/>
            <a:r>
              <a:rPr lang="zh-CN" sz="3000" b="1">
                <a:solidFill>
                  <a:srgbClr val="FFFFFF"/>
                </a:solidFill>
                <a:latin typeface="Aptos Display"/>
                <a:ea typeface="Arial Unicode MS"/>
              </a:rPr>
              <a:t>中国新能源乘用车渗透率增长是否受到公共充电基础设施约束？</a:t>
            </a:r>
            <a:endParaRPr lang="zh-CN" sz="3000"/>
          </a:p>
        </p:txBody>
      </p:sp>
      <p:sp>
        <p:nvSpPr>
          <p:cNvPr id="5" name="Text 5"/>
          <p:cNvSpPr txBox="1"/>
          <p:nvPr/>
        </p:nvSpPr>
        <p:spPr>
          <a:xfrm>
            <a:off x="1005840" y="2816352"/>
            <a:ext cx="9966960" cy="566928"/>
          </a:xfrm>
          <a:prstGeom prst="rect">
            <a:avLst/>
          </a:prstGeom>
          <a:noFill/>
          <a:ln>
            <a:noFill/>
          </a:ln>
        </p:spPr>
        <p:txBody>
          <a:bodyPr wrap="square" lIns="27432" tIns="27432" rIns="27432" bIns="27432" anchor="t">
            <a:normAutofit/>
          </a:bodyPr>
          <a:lstStyle/>
          <a:p>
            <a:pPr algn="l"/>
            <a:r>
              <a:rPr lang="zh-CN" sz="1300">
                <a:solidFill>
                  <a:srgbClr val="C7D3DE"/>
                </a:solidFill>
                <a:latin typeface="Aptos"/>
                <a:ea typeface="Arial Unicode MS"/>
              </a:rPr>
              <a:t>研究范围 · 围绕「中国新能源乘用车渗透率增长是否受到公共充电基础设施约束」展开；证据范围以本轮 PLAN→COLLECT 实际检索与解析的资料为准，所有结论仅在该范围内成立。</a:t>
            </a:r>
            <a:endParaRPr lang="zh-CN" sz="1300"/>
          </a:p>
        </p:txBody>
      </p:sp>
      <p:sp>
        <p:nvSpPr>
          <p:cNvPr id="6" name="Text 6"/>
          <p:cNvSpPr txBox="1"/>
          <p:nvPr/>
        </p:nvSpPr>
        <p:spPr>
          <a:xfrm>
            <a:off x="1005840" y="5440680"/>
            <a:ext cx="3931920" cy="329184"/>
          </a:xfrm>
          <a:prstGeom prst="rect">
            <a:avLst/>
          </a:prstGeom>
          <a:noFill/>
          <a:ln>
            <a:noFill/>
          </a:ln>
        </p:spPr>
        <p:txBody>
          <a:bodyPr wrap="square" lIns="27432" tIns="27432" rIns="27432" bIns="27432" anchor="ctr">
            <a:normAutofit/>
          </a:bodyPr>
          <a:lstStyle/>
          <a:p>
            <a:pPr algn="l"/>
            <a:r>
              <a:rPr lang="zh-CN" sz="1200" b="1">
                <a:solidFill>
                  <a:srgbClr val="F5B942"/>
                </a:solidFill>
                <a:latin typeface="Aptos Display"/>
                <a:ea typeface="Arial Unicode MS"/>
              </a:rPr>
              <a:t>离线黄金案例 · 使用缓存快照</a:t>
            </a:r>
            <a:endParaRPr lang="zh-CN" sz="1200"/>
          </a:p>
        </p:txBody>
      </p:sp>
      <p:sp>
        <p:nvSpPr>
          <p:cNvPr id="7" name="Text 7"/>
          <p:cNvSpPr txBox="1"/>
          <p:nvPr/>
        </p:nvSpPr>
        <p:spPr>
          <a:xfrm>
            <a:off x="11018520" y="6419088"/>
            <a:ext cx="502920" cy="182880"/>
          </a:xfrm>
          <a:prstGeom prst="rect">
            <a:avLst/>
          </a:prstGeom>
          <a:noFill/>
          <a:ln>
            <a:noFill/>
          </a:ln>
        </p:spPr>
        <p:txBody>
          <a:bodyPr wrap="square" lIns="27432" tIns="27432" rIns="27432" bIns="27432" anchor="ctr">
            <a:normAutofit/>
          </a:bodyPr>
          <a:lstStyle/>
          <a:p>
            <a:pPr algn="r"/>
            <a:r>
              <a:rPr lang="zh-CN" sz="900">
                <a:solidFill>
                  <a:srgbClr val="9FB0C0"/>
                </a:solidFill>
                <a:latin typeface="Aptos"/>
                <a:ea typeface="Arial Unicode MS"/>
              </a:rPr>
              <a:t>01</a:t>
            </a:r>
            <a:endParaRPr lang="zh-CN" sz="9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0" y="0"/>
            <a:ext cx="12191695" cy="109728"/>
          </a:xfrm>
          <a:prstGeom prst="rect">
            <a:avLst/>
          </a:prstGeom>
          <a:solidFill>
            <a:srgbClr val="22C3A6"/>
          </a:solidFill>
          <a:ln w="9525">
            <a:solidFill>
              <a:srgbClr val="22C3A6"/>
            </a:solidFill>
          </a:ln>
        </p:spPr>
        <p:txBody>
          <a:bodyPr/>
          <a:lstStyle/>
          <a:p>
            <a:endParaRPr lang="zh-CN"/>
          </a:p>
        </p:txBody>
      </p:sp>
      <p:sp>
        <p:nvSpPr>
          <p:cNvPr id="3" name="Text 3"/>
          <p:cNvSpPr txBox="1"/>
          <p:nvPr/>
        </p:nvSpPr>
        <p:spPr>
          <a:xfrm>
            <a:off x="640080" y="292608"/>
            <a:ext cx="5120640" cy="256032"/>
          </a:xfrm>
          <a:prstGeom prst="rect">
            <a:avLst/>
          </a:prstGeom>
          <a:noFill/>
          <a:ln>
            <a:noFill/>
          </a:ln>
        </p:spPr>
        <p:txBody>
          <a:bodyPr wrap="square" lIns="27432" tIns="27432" rIns="27432" bIns="27432" anchor="ctr">
            <a:normAutofit/>
          </a:bodyPr>
          <a:lstStyle/>
          <a:p>
            <a:pPr algn="l"/>
            <a:r>
              <a:rPr lang="zh-CN" sz="1000" b="1">
                <a:solidFill>
                  <a:srgbClr val="22C3A6"/>
                </a:solidFill>
                <a:latin typeface="Aptos Display"/>
                <a:ea typeface="Arial Unicode MS"/>
              </a:rPr>
              <a:t>CORE CONCLUSIONS</a:t>
            </a:r>
            <a:endParaRPr lang="zh-CN" sz="1000"/>
          </a:p>
        </p:txBody>
      </p:sp>
      <p:sp>
        <p:nvSpPr>
          <p:cNvPr id="4" name="Text 4"/>
          <p:cNvSpPr txBox="1"/>
          <p:nvPr/>
        </p:nvSpPr>
        <p:spPr>
          <a:xfrm>
            <a:off x="640080" y="658368"/>
            <a:ext cx="10515600" cy="621792"/>
          </a:xfrm>
          <a:prstGeom prst="rect">
            <a:avLst/>
          </a:prstGeom>
          <a:noFill/>
          <a:ln>
            <a:noFill/>
          </a:ln>
        </p:spPr>
        <p:txBody>
          <a:bodyPr wrap="square" lIns="27432" tIns="27432" rIns="27432" bIns="27432" anchor="ctr">
            <a:normAutofit/>
          </a:bodyPr>
          <a:lstStyle/>
          <a:p>
            <a:pPr algn="l"/>
            <a:r>
              <a:rPr lang="zh-CN" sz="2700" b="1">
                <a:solidFill>
                  <a:srgbClr val="122033"/>
                </a:solidFill>
                <a:latin typeface="Aptos Display"/>
                <a:ea typeface="Arial Unicode MS"/>
              </a:rPr>
              <a:t>核心结论与人工确认状态</a:t>
            </a:r>
            <a:endParaRPr lang="zh-CN" sz="2700"/>
          </a:p>
        </p:txBody>
      </p:sp>
      <p:sp>
        <p:nvSpPr>
          <p:cNvPr id="5" name="Text 5"/>
          <p:cNvSpPr txBox="1"/>
          <p:nvPr/>
        </p:nvSpPr>
        <p:spPr>
          <a:xfrm>
            <a:off x="11018520" y="6419088"/>
            <a:ext cx="502920" cy="182880"/>
          </a:xfrm>
          <a:prstGeom prst="rect">
            <a:avLst/>
          </a:prstGeom>
          <a:noFill/>
          <a:ln>
            <a:noFill/>
          </a:ln>
        </p:spPr>
        <p:txBody>
          <a:bodyPr wrap="square" lIns="27432" tIns="27432" rIns="27432" bIns="27432" anchor="ctr">
            <a:normAutofit/>
          </a:bodyPr>
          <a:lstStyle/>
          <a:p>
            <a:pPr algn="r"/>
            <a:r>
              <a:rPr lang="zh-CN" sz="900">
                <a:solidFill>
                  <a:srgbClr val="566579"/>
                </a:solidFill>
                <a:latin typeface="Aptos"/>
                <a:ea typeface="Arial Unicode MS"/>
              </a:rPr>
              <a:t>02</a:t>
            </a:r>
            <a:endParaRPr lang="zh-CN" sz="900"/>
          </a:p>
        </p:txBody>
      </p:sp>
      <p:sp>
        <p:nvSpPr>
          <p:cNvPr id="6" name="Text 6"/>
          <p:cNvSpPr txBox="1"/>
          <p:nvPr/>
        </p:nvSpPr>
        <p:spPr>
          <a:xfrm>
            <a:off x="658368" y="1417320"/>
            <a:ext cx="411480" cy="320040"/>
          </a:xfrm>
          <a:prstGeom prst="rect">
            <a:avLst/>
          </a:prstGeom>
          <a:noFill/>
          <a:ln>
            <a:noFill/>
          </a:ln>
        </p:spPr>
        <p:txBody>
          <a:bodyPr wrap="square" lIns="27432" tIns="27432" rIns="27432" bIns="27432" anchor="ctr">
            <a:normAutofit/>
          </a:bodyPr>
          <a:lstStyle/>
          <a:p>
            <a:pPr algn="l"/>
            <a:r>
              <a:rPr lang="zh-CN" sz="1600" b="1">
                <a:solidFill>
                  <a:srgbClr val="F5B942"/>
                </a:solidFill>
                <a:latin typeface="Aptos Display"/>
                <a:ea typeface="Arial Unicode MS"/>
              </a:rPr>
              <a:t>01</a:t>
            </a:r>
            <a:endParaRPr lang="zh-CN" sz="1600"/>
          </a:p>
        </p:txBody>
      </p:sp>
      <p:sp>
        <p:nvSpPr>
          <p:cNvPr id="7" name="Text 7"/>
          <p:cNvSpPr txBox="1"/>
          <p:nvPr/>
        </p:nvSpPr>
        <p:spPr>
          <a:xfrm>
            <a:off x="1234440" y="1389888"/>
            <a:ext cx="8549640" cy="713232"/>
          </a:xfrm>
          <a:prstGeom prst="rect">
            <a:avLst/>
          </a:prstGeom>
          <a:noFill/>
          <a:ln>
            <a:noFill/>
          </a:ln>
        </p:spPr>
        <p:txBody>
          <a:bodyPr wrap="square" lIns="27432" tIns="27432" rIns="27432" bIns="27432" anchor="t">
            <a:normAutofit/>
          </a:bodyPr>
          <a:lstStyle/>
          <a:p>
            <a:pPr algn="l"/>
            <a:r>
              <a:rPr lang="zh-CN" sz="1400" b="1">
                <a:solidFill>
                  <a:srgbClr val="122033"/>
                </a:solidFill>
                <a:latin typeface="Aptos Display"/>
                <a:ea typeface="Arial Unicode MS"/>
              </a:rPr>
              <a:t>2024 年新能源乘用车国内零售渗透率 47.6% 与当时预测输入重算的全汽车销量份额 37.1% 不可直接合并；两值应同时保留，相关判断必须先限定车辆对象、分母、数据阶段和交易口径。</a:t>
            </a:r>
            <a:endParaRPr lang="zh-CN" sz="1400"/>
          </a:p>
        </p:txBody>
      </p:sp>
      <p:sp>
        <p:nvSpPr>
          <p:cNvPr id="8" name="Shape 8"/>
          <p:cNvSpPr/>
          <p:nvPr/>
        </p:nvSpPr>
        <p:spPr>
          <a:xfrm>
            <a:off x="9985248" y="1417320"/>
            <a:ext cx="1508760" cy="310896"/>
          </a:xfrm>
          <a:prstGeom prst="roundRect">
            <a:avLst/>
          </a:prstGeom>
          <a:solidFill>
            <a:srgbClr val="F5B942"/>
          </a:solidFill>
          <a:ln w="9525">
            <a:solidFill>
              <a:srgbClr val="F5B942"/>
            </a:solidFill>
          </a:ln>
        </p:spPr>
        <p:txBody>
          <a:bodyPr/>
          <a:lstStyle/>
          <a:p>
            <a:endParaRPr lang="zh-CN"/>
          </a:p>
        </p:txBody>
      </p:sp>
      <p:sp>
        <p:nvSpPr>
          <p:cNvPr id="9" name="Text 9"/>
          <p:cNvSpPr txBox="1"/>
          <p:nvPr/>
        </p:nvSpPr>
        <p:spPr>
          <a:xfrm>
            <a:off x="10040112" y="1435608"/>
            <a:ext cx="1399032" cy="228600"/>
          </a:xfrm>
          <a:prstGeom prst="rect">
            <a:avLst/>
          </a:prstGeom>
          <a:noFill/>
          <a:ln>
            <a:noFill/>
          </a:ln>
        </p:spPr>
        <p:txBody>
          <a:bodyPr wrap="square" lIns="27432" tIns="27432" rIns="27432" bIns="27432" anchor="ctr">
            <a:normAutofit/>
          </a:bodyPr>
          <a:lstStyle/>
          <a:p>
            <a:pPr algn="ctr"/>
            <a:r>
              <a:rPr lang="zh-CN" sz="800" b="1">
                <a:solidFill>
                  <a:srgbClr val="FFFFFF"/>
                </a:solidFill>
                <a:latin typeface="Aptos Display"/>
                <a:ea typeface="Arial Unicode MS"/>
              </a:rPr>
              <a:t>PENDING_REVIEW</a:t>
            </a:r>
            <a:endParaRPr lang="zh-CN" sz="800"/>
          </a:p>
        </p:txBody>
      </p:sp>
      <p:sp>
        <p:nvSpPr>
          <p:cNvPr id="10" name="Text 10"/>
          <p:cNvSpPr txBox="1"/>
          <p:nvPr/>
        </p:nvSpPr>
        <p:spPr>
          <a:xfrm>
            <a:off x="1234440" y="2148840"/>
            <a:ext cx="2194560" cy="182880"/>
          </a:xfrm>
          <a:prstGeom prst="rect">
            <a:avLst/>
          </a:prstGeom>
          <a:noFill/>
          <a:ln>
            <a:noFill/>
          </a:ln>
        </p:spPr>
        <p:txBody>
          <a:bodyPr wrap="square" lIns="27432" tIns="27432" rIns="27432" bIns="27432" anchor="ctr">
            <a:normAutofit/>
          </a:bodyPr>
          <a:lstStyle/>
          <a:p>
            <a:pPr algn="l"/>
            <a:r>
              <a:rPr lang="zh-CN" sz="800">
                <a:solidFill>
                  <a:srgbClr val="566579"/>
                </a:solidFill>
                <a:latin typeface="Aptos"/>
                <a:ea typeface="Arial Unicode MS"/>
              </a:rPr>
              <a:t>[S1] [S5]</a:t>
            </a:r>
            <a:endParaRPr lang="zh-CN" sz="800"/>
          </a:p>
        </p:txBody>
      </p:sp>
      <p:sp>
        <p:nvSpPr>
          <p:cNvPr id="11" name="Shape 11"/>
          <p:cNvSpPr/>
          <p:nvPr/>
        </p:nvSpPr>
        <p:spPr>
          <a:xfrm>
            <a:off x="1234440" y="2404872"/>
            <a:ext cx="10149840" cy="7315"/>
          </a:xfrm>
          <a:prstGeom prst="rect">
            <a:avLst/>
          </a:prstGeom>
          <a:solidFill>
            <a:srgbClr val="D8E1E7"/>
          </a:solidFill>
          <a:ln w="9525">
            <a:solidFill>
              <a:srgbClr val="D8E1E7"/>
            </a:solidFill>
          </a:ln>
        </p:spPr>
        <p:txBody>
          <a:bodyPr/>
          <a:lstStyle/>
          <a:p>
            <a:endParaRPr lang="zh-CN"/>
          </a:p>
        </p:txBody>
      </p:sp>
      <p:sp>
        <p:nvSpPr>
          <p:cNvPr id="12" name="Text 12"/>
          <p:cNvSpPr txBox="1"/>
          <p:nvPr/>
        </p:nvSpPr>
        <p:spPr>
          <a:xfrm>
            <a:off x="658368" y="2587752"/>
            <a:ext cx="411480" cy="320040"/>
          </a:xfrm>
          <a:prstGeom prst="rect">
            <a:avLst/>
          </a:prstGeom>
          <a:noFill/>
          <a:ln>
            <a:noFill/>
          </a:ln>
        </p:spPr>
        <p:txBody>
          <a:bodyPr wrap="square" lIns="27432" tIns="27432" rIns="27432" bIns="27432" anchor="ctr">
            <a:normAutofit/>
          </a:bodyPr>
          <a:lstStyle/>
          <a:p>
            <a:pPr algn="l"/>
            <a:r>
              <a:rPr lang="zh-CN" sz="1600" b="1">
                <a:solidFill>
                  <a:srgbClr val="22C3A6"/>
                </a:solidFill>
                <a:latin typeface="Aptos Display"/>
                <a:ea typeface="Arial Unicode MS"/>
              </a:rPr>
              <a:t>02</a:t>
            </a:r>
            <a:endParaRPr lang="zh-CN" sz="1600"/>
          </a:p>
        </p:txBody>
      </p:sp>
      <p:sp>
        <p:nvSpPr>
          <p:cNvPr id="13" name="Text 13"/>
          <p:cNvSpPr txBox="1"/>
          <p:nvPr/>
        </p:nvSpPr>
        <p:spPr>
          <a:xfrm>
            <a:off x="1234440" y="2560320"/>
            <a:ext cx="8549640" cy="713232"/>
          </a:xfrm>
          <a:prstGeom prst="rect">
            <a:avLst/>
          </a:prstGeom>
          <a:noFill/>
          <a:ln>
            <a:noFill/>
          </a:ln>
        </p:spPr>
        <p:txBody>
          <a:bodyPr wrap="square" lIns="27432" tIns="27432" rIns="27432" bIns="27432" anchor="t">
            <a:normAutofit/>
          </a:bodyPr>
          <a:lstStyle/>
          <a:p>
            <a:pPr algn="l"/>
            <a:r>
              <a:rPr lang="zh-CN" sz="1400" b="1">
                <a:solidFill>
                  <a:srgbClr val="122033"/>
                </a:solidFill>
                <a:latin typeface="Aptos Display"/>
                <a:ea typeface="Arial Unicode MS"/>
              </a:rPr>
              <a:t>公共充电桩约 31.3% 的同比增长证明名义基础设施仍在扩张，但桩数量增长不能替代地域分布、可用率和高峰利用率验证。</a:t>
            </a:r>
            <a:endParaRPr lang="zh-CN" sz="1400"/>
          </a:p>
        </p:txBody>
      </p:sp>
      <p:sp>
        <p:nvSpPr>
          <p:cNvPr id="14" name="Shape 14"/>
          <p:cNvSpPr/>
          <p:nvPr/>
        </p:nvSpPr>
        <p:spPr>
          <a:xfrm>
            <a:off x="9985248" y="2587752"/>
            <a:ext cx="1508760" cy="310896"/>
          </a:xfrm>
          <a:prstGeom prst="roundRect">
            <a:avLst/>
          </a:prstGeom>
          <a:solidFill>
            <a:srgbClr val="22C3A6"/>
          </a:solidFill>
          <a:ln w="9525">
            <a:solidFill>
              <a:srgbClr val="22C3A6"/>
            </a:solidFill>
          </a:ln>
        </p:spPr>
        <p:txBody>
          <a:bodyPr/>
          <a:lstStyle/>
          <a:p>
            <a:endParaRPr lang="zh-CN"/>
          </a:p>
        </p:txBody>
      </p:sp>
      <p:sp>
        <p:nvSpPr>
          <p:cNvPr id="15" name="Text 15"/>
          <p:cNvSpPr txBox="1"/>
          <p:nvPr/>
        </p:nvSpPr>
        <p:spPr>
          <a:xfrm>
            <a:off x="10040112" y="2606040"/>
            <a:ext cx="1399032" cy="228600"/>
          </a:xfrm>
          <a:prstGeom prst="rect">
            <a:avLst/>
          </a:prstGeom>
          <a:noFill/>
          <a:ln>
            <a:noFill/>
          </a:ln>
        </p:spPr>
        <p:txBody>
          <a:bodyPr wrap="square" lIns="27432" tIns="27432" rIns="27432" bIns="27432" anchor="ctr">
            <a:normAutofit/>
          </a:bodyPr>
          <a:lstStyle/>
          <a:p>
            <a:pPr algn="ctr"/>
            <a:r>
              <a:rPr lang="zh-CN" sz="800" b="1">
                <a:solidFill>
                  <a:srgbClr val="FFFFFF"/>
                </a:solidFill>
                <a:latin typeface="Aptos Display"/>
                <a:ea typeface="Arial Unicode MS"/>
              </a:rPr>
              <a:t>PENDING_REVIEW</a:t>
            </a:r>
            <a:endParaRPr lang="zh-CN" sz="800"/>
          </a:p>
        </p:txBody>
      </p:sp>
      <p:sp>
        <p:nvSpPr>
          <p:cNvPr id="16" name="Text 16"/>
          <p:cNvSpPr txBox="1"/>
          <p:nvPr/>
        </p:nvSpPr>
        <p:spPr>
          <a:xfrm>
            <a:off x="1234440" y="3319272"/>
            <a:ext cx="2194560" cy="182880"/>
          </a:xfrm>
          <a:prstGeom prst="rect">
            <a:avLst/>
          </a:prstGeom>
          <a:noFill/>
          <a:ln>
            <a:noFill/>
          </a:ln>
        </p:spPr>
        <p:txBody>
          <a:bodyPr wrap="square" lIns="27432" tIns="27432" rIns="27432" bIns="27432" anchor="ctr">
            <a:normAutofit/>
          </a:bodyPr>
          <a:lstStyle/>
          <a:p>
            <a:pPr algn="l"/>
            <a:r>
              <a:rPr lang="zh-CN" sz="800">
                <a:solidFill>
                  <a:srgbClr val="566579"/>
                </a:solidFill>
                <a:latin typeface="Aptos"/>
                <a:ea typeface="Arial Unicode MS"/>
              </a:rPr>
              <a:t>[S3] [S4] [S5]</a:t>
            </a:r>
            <a:endParaRPr lang="zh-CN" sz="800"/>
          </a:p>
        </p:txBody>
      </p:sp>
      <p:sp>
        <p:nvSpPr>
          <p:cNvPr id="17" name="Shape 17"/>
          <p:cNvSpPr/>
          <p:nvPr/>
        </p:nvSpPr>
        <p:spPr>
          <a:xfrm>
            <a:off x="1234440" y="3575304"/>
            <a:ext cx="10149840" cy="7315"/>
          </a:xfrm>
          <a:prstGeom prst="rect">
            <a:avLst/>
          </a:prstGeom>
          <a:solidFill>
            <a:srgbClr val="D8E1E7"/>
          </a:solidFill>
          <a:ln w="9525">
            <a:solidFill>
              <a:srgbClr val="D8E1E7"/>
            </a:solidFill>
          </a:ln>
        </p:spPr>
        <p:txBody>
          <a:bodyPr/>
          <a:lstStyle/>
          <a:p>
            <a:endParaRPr lang="zh-CN"/>
          </a:p>
        </p:txBody>
      </p:sp>
      <p:sp>
        <p:nvSpPr>
          <p:cNvPr id="18" name="Text 18"/>
          <p:cNvSpPr txBox="1"/>
          <p:nvPr/>
        </p:nvSpPr>
        <p:spPr>
          <a:xfrm>
            <a:off x="658368" y="3758184"/>
            <a:ext cx="411480" cy="320040"/>
          </a:xfrm>
          <a:prstGeom prst="rect">
            <a:avLst/>
          </a:prstGeom>
          <a:noFill/>
          <a:ln>
            <a:noFill/>
          </a:ln>
        </p:spPr>
        <p:txBody>
          <a:bodyPr wrap="square" lIns="27432" tIns="27432" rIns="27432" bIns="27432" anchor="ctr">
            <a:normAutofit/>
          </a:bodyPr>
          <a:lstStyle/>
          <a:p>
            <a:pPr algn="l"/>
            <a:r>
              <a:rPr lang="zh-CN" sz="1600" b="1">
                <a:solidFill>
                  <a:srgbClr val="22C3A6"/>
                </a:solidFill>
                <a:latin typeface="Aptos Display"/>
                <a:ea typeface="Arial Unicode MS"/>
              </a:rPr>
              <a:t>03</a:t>
            </a:r>
            <a:endParaRPr lang="zh-CN" sz="1600"/>
          </a:p>
        </p:txBody>
      </p:sp>
      <p:sp>
        <p:nvSpPr>
          <p:cNvPr id="19" name="Text 19"/>
          <p:cNvSpPr txBox="1"/>
          <p:nvPr/>
        </p:nvSpPr>
        <p:spPr>
          <a:xfrm>
            <a:off x="1234440" y="3730752"/>
            <a:ext cx="8549640" cy="713232"/>
          </a:xfrm>
          <a:prstGeom prst="rect">
            <a:avLst/>
          </a:prstGeom>
          <a:noFill/>
          <a:ln>
            <a:noFill/>
          </a:ln>
        </p:spPr>
        <p:txBody>
          <a:bodyPr wrap="square" lIns="27432" tIns="27432" rIns="27432" bIns="27432" anchor="t">
            <a:normAutofit/>
          </a:bodyPr>
          <a:lstStyle/>
          <a:p>
            <a:pPr algn="l"/>
            <a:r>
              <a:rPr lang="zh-CN" sz="1400" b="1">
                <a:solidFill>
                  <a:srgbClr val="122033"/>
                </a:solidFill>
                <a:latin typeface="Aptos Display"/>
                <a:ea typeface="Arial Unicode MS"/>
              </a:rPr>
              <a:t>在明确采用 15% 利用率折损这一演示情景假设时，风险调整后的名义公共充电供给约为 3.04 百万个；该估算只用于敏感性展示，不能升级为全国实际利用率事实。</a:t>
            </a:r>
            <a:endParaRPr lang="zh-CN" sz="1400"/>
          </a:p>
        </p:txBody>
      </p:sp>
      <p:sp>
        <p:nvSpPr>
          <p:cNvPr id="20" name="Shape 20"/>
          <p:cNvSpPr/>
          <p:nvPr/>
        </p:nvSpPr>
        <p:spPr>
          <a:xfrm>
            <a:off x="9985248" y="3758184"/>
            <a:ext cx="1508760" cy="310896"/>
          </a:xfrm>
          <a:prstGeom prst="roundRect">
            <a:avLst/>
          </a:prstGeom>
          <a:solidFill>
            <a:srgbClr val="22C3A6"/>
          </a:solidFill>
          <a:ln w="9525">
            <a:solidFill>
              <a:srgbClr val="22C3A6"/>
            </a:solidFill>
          </a:ln>
        </p:spPr>
        <p:txBody>
          <a:bodyPr/>
          <a:lstStyle/>
          <a:p>
            <a:endParaRPr lang="zh-CN"/>
          </a:p>
        </p:txBody>
      </p:sp>
      <p:sp>
        <p:nvSpPr>
          <p:cNvPr id="21" name="Text 21"/>
          <p:cNvSpPr txBox="1"/>
          <p:nvPr/>
        </p:nvSpPr>
        <p:spPr>
          <a:xfrm>
            <a:off x="10040112" y="3776472"/>
            <a:ext cx="1399032" cy="228600"/>
          </a:xfrm>
          <a:prstGeom prst="rect">
            <a:avLst/>
          </a:prstGeom>
          <a:noFill/>
          <a:ln>
            <a:noFill/>
          </a:ln>
        </p:spPr>
        <p:txBody>
          <a:bodyPr wrap="square" lIns="27432" tIns="27432" rIns="27432" bIns="27432" anchor="ctr">
            <a:normAutofit/>
          </a:bodyPr>
          <a:lstStyle/>
          <a:p>
            <a:pPr algn="ctr"/>
            <a:r>
              <a:rPr lang="zh-CN" sz="800" b="1">
                <a:solidFill>
                  <a:srgbClr val="FFFFFF"/>
                </a:solidFill>
                <a:latin typeface="Aptos Display"/>
                <a:ea typeface="Arial Unicode MS"/>
              </a:rPr>
              <a:t>PENDING_REVIEW</a:t>
            </a:r>
            <a:endParaRPr lang="zh-CN" sz="800"/>
          </a:p>
        </p:txBody>
      </p:sp>
      <p:sp>
        <p:nvSpPr>
          <p:cNvPr id="22" name="Text 22"/>
          <p:cNvSpPr txBox="1"/>
          <p:nvPr/>
        </p:nvSpPr>
        <p:spPr>
          <a:xfrm>
            <a:off x="1234440" y="4489704"/>
            <a:ext cx="2194560" cy="182880"/>
          </a:xfrm>
          <a:prstGeom prst="rect">
            <a:avLst/>
          </a:prstGeom>
          <a:noFill/>
          <a:ln>
            <a:noFill/>
          </a:ln>
        </p:spPr>
        <p:txBody>
          <a:bodyPr wrap="square" lIns="27432" tIns="27432" rIns="27432" bIns="27432" anchor="ctr">
            <a:normAutofit/>
          </a:bodyPr>
          <a:lstStyle/>
          <a:p>
            <a:pPr algn="l"/>
            <a:r>
              <a:rPr lang="zh-CN" sz="800">
                <a:solidFill>
                  <a:srgbClr val="566579"/>
                </a:solidFill>
                <a:latin typeface="Aptos"/>
                <a:ea typeface="Arial Unicode MS"/>
              </a:rPr>
              <a:t>[S3] [S5]</a:t>
            </a:r>
            <a:endParaRPr lang="zh-CN" sz="800"/>
          </a:p>
        </p:txBody>
      </p:sp>
      <p:sp>
        <p:nvSpPr>
          <p:cNvPr id="23" name="Shape 23"/>
          <p:cNvSpPr/>
          <p:nvPr/>
        </p:nvSpPr>
        <p:spPr>
          <a:xfrm>
            <a:off x="1234440" y="4745736"/>
            <a:ext cx="10149840" cy="7315"/>
          </a:xfrm>
          <a:prstGeom prst="rect">
            <a:avLst/>
          </a:prstGeom>
          <a:solidFill>
            <a:srgbClr val="D8E1E7"/>
          </a:solidFill>
          <a:ln w="9525">
            <a:solidFill>
              <a:srgbClr val="D8E1E7"/>
            </a:solidFill>
          </a:ln>
        </p:spPr>
        <p:txBody>
          <a:bodyPr/>
          <a:lstStyle/>
          <a:p>
            <a:endParaRPr lang="zh-CN"/>
          </a:p>
        </p:txBody>
      </p:sp>
      <p:sp>
        <p:nvSpPr>
          <p:cNvPr id="24" name="Text 24"/>
          <p:cNvSpPr txBox="1"/>
          <p:nvPr/>
        </p:nvSpPr>
        <p:spPr>
          <a:xfrm>
            <a:off x="658368" y="4928616"/>
            <a:ext cx="411480" cy="320040"/>
          </a:xfrm>
          <a:prstGeom prst="rect">
            <a:avLst/>
          </a:prstGeom>
          <a:noFill/>
          <a:ln>
            <a:noFill/>
          </a:ln>
        </p:spPr>
        <p:txBody>
          <a:bodyPr wrap="square" lIns="27432" tIns="27432" rIns="27432" bIns="27432" anchor="ctr">
            <a:normAutofit/>
          </a:bodyPr>
          <a:lstStyle/>
          <a:p>
            <a:pPr algn="l"/>
            <a:r>
              <a:rPr lang="zh-CN" sz="1600" b="1">
                <a:solidFill>
                  <a:srgbClr val="E85D75"/>
                </a:solidFill>
                <a:latin typeface="Aptos Display"/>
                <a:ea typeface="Arial Unicode MS"/>
              </a:rPr>
              <a:t>04</a:t>
            </a:r>
            <a:endParaRPr lang="zh-CN" sz="1600"/>
          </a:p>
        </p:txBody>
      </p:sp>
      <p:sp>
        <p:nvSpPr>
          <p:cNvPr id="25" name="Text 25"/>
          <p:cNvSpPr txBox="1"/>
          <p:nvPr/>
        </p:nvSpPr>
        <p:spPr>
          <a:xfrm>
            <a:off x="1234440" y="4901184"/>
            <a:ext cx="8549640" cy="713232"/>
          </a:xfrm>
          <a:prstGeom prst="rect">
            <a:avLst/>
          </a:prstGeom>
          <a:noFill/>
          <a:ln>
            <a:noFill/>
          </a:ln>
        </p:spPr>
        <p:txBody>
          <a:bodyPr wrap="square" lIns="27432" tIns="27432" rIns="27432" bIns="27432" anchor="t">
            <a:normAutofit/>
          </a:bodyPr>
          <a:lstStyle/>
          <a:p>
            <a:pPr algn="l"/>
            <a:r>
              <a:rPr lang="zh-CN" sz="1400" b="1">
                <a:solidFill>
                  <a:srgbClr val="122033"/>
                </a:solidFill>
                <a:latin typeface="Aptos Display"/>
                <a:ea typeface="Arial Unicode MS"/>
              </a:rPr>
              <a:t>现有全国描述性资料不足以证明公共充电基础设施是新能源乘用车渗透率增长的单一因果约束；在地区对照、利用率和混杂因素资料补齐前，这一判断必须保持证据不足。</a:t>
            </a:r>
            <a:endParaRPr lang="zh-CN" sz="1400"/>
          </a:p>
        </p:txBody>
      </p:sp>
      <p:sp>
        <p:nvSpPr>
          <p:cNvPr id="26" name="Shape 26"/>
          <p:cNvSpPr/>
          <p:nvPr/>
        </p:nvSpPr>
        <p:spPr>
          <a:xfrm>
            <a:off x="9985248" y="4928616"/>
            <a:ext cx="1508760" cy="310896"/>
          </a:xfrm>
          <a:prstGeom prst="roundRect">
            <a:avLst/>
          </a:prstGeom>
          <a:solidFill>
            <a:srgbClr val="E85D75"/>
          </a:solidFill>
          <a:ln w="9525">
            <a:solidFill>
              <a:srgbClr val="E85D75"/>
            </a:solidFill>
          </a:ln>
        </p:spPr>
        <p:txBody>
          <a:bodyPr/>
          <a:lstStyle/>
          <a:p>
            <a:endParaRPr lang="zh-CN"/>
          </a:p>
        </p:txBody>
      </p:sp>
      <p:sp>
        <p:nvSpPr>
          <p:cNvPr id="27" name="Text 27"/>
          <p:cNvSpPr txBox="1"/>
          <p:nvPr/>
        </p:nvSpPr>
        <p:spPr>
          <a:xfrm>
            <a:off x="10040112" y="4946904"/>
            <a:ext cx="1399032" cy="228600"/>
          </a:xfrm>
          <a:prstGeom prst="rect">
            <a:avLst/>
          </a:prstGeom>
          <a:noFill/>
          <a:ln>
            <a:noFill/>
          </a:ln>
        </p:spPr>
        <p:txBody>
          <a:bodyPr wrap="square" lIns="27432" tIns="27432" rIns="27432" bIns="27432" anchor="ctr">
            <a:normAutofit/>
          </a:bodyPr>
          <a:lstStyle/>
          <a:p>
            <a:pPr algn="ctr"/>
            <a:r>
              <a:rPr lang="zh-CN" sz="800" b="1">
                <a:solidFill>
                  <a:srgbClr val="FFFFFF"/>
                </a:solidFill>
                <a:latin typeface="Aptos Display"/>
                <a:ea typeface="Arial Unicode MS"/>
              </a:rPr>
              <a:t>PENDING_REVIEW</a:t>
            </a:r>
            <a:endParaRPr lang="zh-CN" sz="800"/>
          </a:p>
        </p:txBody>
      </p:sp>
      <p:sp>
        <p:nvSpPr>
          <p:cNvPr id="28" name="Text 28"/>
          <p:cNvSpPr txBox="1"/>
          <p:nvPr/>
        </p:nvSpPr>
        <p:spPr>
          <a:xfrm>
            <a:off x="1234440" y="5660136"/>
            <a:ext cx="2194560" cy="182880"/>
          </a:xfrm>
          <a:prstGeom prst="rect">
            <a:avLst/>
          </a:prstGeom>
          <a:noFill/>
          <a:ln>
            <a:noFill/>
          </a:ln>
        </p:spPr>
        <p:txBody>
          <a:bodyPr wrap="square" lIns="27432" tIns="27432" rIns="27432" bIns="27432" anchor="ctr">
            <a:normAutofit/>
          </a:bodyPr>
          <a:lstStyle/>
          <a:p>
            <a:pPr algn="l"/>
            <a:r>
              <a:rPr lang="zh-CN" sz="800">
                <a:solidFill>
                  <a:srgbClr val="566579"/>
                </a:solidFill>
                <a:latin typeface="Aptos"/>
                <a:ea typeface="Arial Unicode MS"/>
              </a:rPr>
              <a:t>[S4]</a:t>
            </a:r>
            <a:endParaRPr lang="zh-CN" sz="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0" y="0"/>
            <a:ext cx="12191695" cy="109728"/>
          </a:xfrm>
          <a:prstGeom prst="rect">
            <a:avLst/>
          </a:prstGeom>
          <a:solidFill>
            <a:srgbClr val="22C3A6"/>
          </a:solidFill>
          <a:ln w="9525">
            <a:solidFill>
              <a:srgbClr val="22C3A6"/>
            </a:solidFill>
          </a:ln>
        </p:spPr>
        <p:txBody>
          <a:bodyPr/>
          <a:lstStyle/>
          <a:p>
            <a:endParaRPr lang="zh-CN"/>
          </a:p>
        </p:txBody>
      </p:sp>
      <p:sp>
        <p:nvSpPr>
          <p:cNvPr id="3" name="Text 3"/>
          <p:cNvSpPr txBox="1"/>
          <p:nvPr/>
        </p:nvSpPr>
        <p:spPr>
          <a:xfrm>
            <a:off x="640080" y="292608"/>
            <a:ext cx="5120640" cy="256032"/>
          </a:xfrm>
          <a:prstGeom prst="rect">
            <a:avLst/>
          </a:prstGeom>
          <a:noFill/>
          <a:ln>
            <a:noFill/>
          </a:ln>
        </p:spPr>
        <p:txBody>
          <a:bodyPr wrap="square" lIns="27432" tIns="27432" rIns="27432" bIns="27432" anchor="ctr">
            <a:normAutofit/>
          </a:bodyPr>
          <a:lstStyle/>
          <a:p>
            <a:pPr algn="l"/>
            <a:r>
              <a:rPr lang="zh-CN" sz="1000" b="1">
                <a:solidFill>
                  <a:srgbClr val="22C3A6"/>
                </a:solidFill>
                <a:latin typeface="Aptos Display"/>
                <a:ea typeface="Arial Unicode MS"/>
              </a:rPr>
              <a:t>DETERMINISTIC CALCULATIONS</a:t>
            </a:r>
            <a:endParaRPr lang="zh-CN" sz="1000"/>
          </a:p>
        </p:txBody>
      </p:sp>
      <p:sp>
        <p:nvSpPr>
          <p:cNvPr id="4" name="Text 4"/>
          <p:cNvSpPr txBox="1"/>
          <p:nvPr/>
        </p:nvSpPr>
        <p:spPr>
          <a:xfrm>
            <a:off x="640080" y="658368"/>
            <a:ext cx="10515600" cy="621792"/>
          </a:xfrm>
          <a:prstGeom prst="rect">
            <a:avLst/>
          </a:prstGeom>
          <a:noFill/>
          <a:ln>
            <a:noFill/>
          </a:ln>
        </p:spPr>
        <p:txBody>
          <a:bodyPr wrap="square" lIns="27432" tIns="27432" rIns="27432" bIns="27432" anchor="ctr">
            <a:normAutofit/>
          </a:bodyPr>
          <a:lstStyle/>
          <a:p>
            <a:pPr algn="l"/>
            <a:r>
              <a:rPr lang="zh-CN" sz="2700" b="1">
                <a:solidFill>
                  <a:srgbClr val="122033"/>
                </a:solidFill>
                <a:latin typeface="Aptos Display"/>
                <a:ea typeface="Arial Unicode MS"/>
              </a:rPr>
              <a:t>关键数据、公式与可重算输入</a:t>
            </a:r>
            <a:endParaRPr lang="zh-CN" sz="2700"/>
          </a:p>
        </p:txBody>
      </p:sp>
      <p:sp>
        <p:nvSpPr>
          <p:cNvPr id="5" name="Text 5"/>
          <p:cNvSpPr txBox="1"/>
          <p:nvPr/>
        </p:nvSpPr>
        <p:spPr>
          <a:xfrm>
            <a:off x="11018520" y="6419088"/>
            <a:ext cx="502920" cy="182880"/>
          </a:xfrm>
          <a:prstGeom prst="rect">
            <a:avLst/>
          </a:prstGeom>
          <a:noFill/>
          <a:ln>
            <a:noFill/>
          </a:ln>
        </p:spPr>
        <p:txBody>
          <a:bodyPr wrap="square" lIns="27432" tIns="27432" rIns="27432" bIns="27432" anchor="ctr">
            <a:normAutofit/>
          </a:bodyPr>
          <a:lstStyle/>
          <a:p>
            <a:pPr algn="r"/>
            <a:r>
              <a:rPr lang="zh-CN" sz="900">
                <a:solidFill>
                  <a:srgbClr val="566579"/>
                </a:solidFill>
                <a:latin typeface="Aptos"/>
                <a:ea typeface="Arial Unicode MS"/>
              </a:rPr>
              <a:t>03</a:t>
            </a:r>
            <a:endParaRPr lang="zh-CN" sz="900"/>
          </a:p>
        </p:txBody>
      </p:sp>
      <p:sp>
        <p:nvSpPr>
          <p:cNvPr id="6" name="Shape 6"/>
          <p:cNvSpPr/>
          <p:nvPr/>
        </p:nvSpPr>
        <p:spPr>
          <a:xfrm>
            <a:off x="685800" y="1508760"/>
            <a:ext cx="5257800" cy="3200400"/>
          </a:xfrm>
          <a:prstGeom prst="roundRect">
            <a:avLst/>
          </a:prstGeom>
          <a:solidFill>
            <a:srgbClr val="EEF4F7"/>
          </a:solidFill>
          <a:ln w="9525">
            <a:solidFill>
              <a:srgbClr val="D5E2E8"/>
            </a:solidFill>
          </a:ln>
        </p:spPr>
        <p:txBody>
          <a:bodyPr/>
          <a:lstStyle/>
          <a:p>
            <a:endParaRPr lang="zh-CN"/>
          </a:p>
        </p:txBody>
      </p:sp>
      <p:sp>
        <p:nvSpPr>
          <p:cNvPr id="7" name="Text 7"/>
          <p:cNvSpPr txBox="1"/>
          <p:nvPr/>
        </p:nvSpPr>
        <p:spPr>
          <a:xfrm>
            <a:off x="1051560" y="1828800"/>
            <a:ext cx="4297680" cy="731520"/>
          </a:xfrm>
          <a:prstGeom prst="rect">
            <a:avLst/>
          </a:prstGeom>
          <a:noFill/>
          <a:ln>
            <a:noFill/>
          </a:ln>
        </p:spPr>
        <p:txBody>
          <a:bodyPr wrap="square" lIns="27432" tIns="27432" rIns="27432" bIns="27432" anchor="ctr">
            <a:normAutofit/>
          </a:bodyPr>
          <a:lstStyle/>
          <a:p>
            <a:pPr algn="ctr"/>
            <a:r>
              <a:rPr lang="zh-CN" sz="3800" b="1">
                <a:solidFill>
                  <a:srgbClr val="122033"/>
                </a:solidFill>
                <a:latin typeface="Aptos Display"/>
                <a:ea typeface="Arial Unicode MS"/>
              </a:rPr>
              <a:t>37.1%</a:t>
            </a:r>
            <a:endParaRPr lang="zh-CN" sz="3800"/>
          </a:p>
        </p:txBody>
      </p:sp>
      <p:sp>
        <p:nvSpPr>
          <p:cNvPr id="8" name="Text 8"/>
          <p:cNvSpPr txBox="1"/>
          <p:nvPr/>
        </p:nvSpPr>
        <p:spPr>
          <a:xfrm>
            <a:off x="1051560" y="2651760"/>
            <a:ext cx="4297680" cy="310896"/>
          </a:xfrm>
          <a:prstGeom prst="rect">
            <a:avLst/>
          </a:prstGeom>
          <a:noFill/>
          <a:ln>
            <a:noFill/>
          </a:ln>
        </p:spPr>
        <p:txBody>
          <a:bodyPr wrap="square" lIns="27432" tIns="27432" rIns="27432" bIns="27432" anchor="ctr">
            <a:normAutofit/>
          </a:bodyPr>
          <a:lstStyle/>
          <a:p>
            <a:pPr algn="ctr"/>
            <a:r>
              <a:rPr lang="zh-CN" sz="1500" b="1">
                <a:solidFill>
                  <a:srgbClr val="566579"/>
                </a:solidFill>
                <a:latin typeface="Aptos Display"/>
                <a:ea typeface="Arial Unicode MS"/>
              </a:rPr>
              <a:t>2024 新能源汽车份额（预测输入）</a:t>
            </a:r>
            <a:endParaRPr lang="zh-CN" sz="1500"/>
          </a:p>
        </p:txBody>
      </p:sp>
      <p:sp>
        <p:nvSpPr>
          <p:cNvPr id="9" name="Text 9"/>
          <p:cNvSpPr txBox="1"/>
          <p:nvPr/>
        </p:nvSpPr>
        <p:spPr>
          <a:xfrm>
            <a:off x="1024128" y="3246120"/>
            <a:ext cx="4407408" cy="914400"/>
          </a:xfrm>
          <a:prstGeom prst="rect">
            <a:avLst/>
          </a:prstGeom>
          <a:noFill/>
          <a:ln>
            <a:noFill/>
          </a:ln>
        </p:spPr>
        <p:txBody>
          <a:bodyPr wrap="square" lIns="27432" tIns="27432" rIns="27432" bIns="27432" anchor="t">
            <a:normAutofit/>
          </a:bodyPr>
          <a:lstStyle/>
          <a:p>
            <a:pPr algn="l"/>
            <a:r>
              <a:rPr lang="zh-CN" sz="1100">
                <a:solidFill>
                  <a:srgbClr val="566579"/>
                </a:solidFill>
                <a:latin typeface="Aptos"/>
                <a:ea typeface="Arial Unicode MS"/>
              </a:rPr>
              <a:t>nev_sales_million / total_auto_sales_million * 100</a:t>
            </a:r>
            <a:endParaRPr lang="zh-CN" sz="1100"/>
          </a:p>
          <a:p>
            <a:pPr algn="l"/>
            <a:r>
              <a:rPr lang="zh-CN" sz="1100">
                <a:solidFill>
                  <a:srgbClr val="566579"/>
                </a:solidFill>
                <a:latin typeface="Aptos"/>
                <a:ea typeface="Arial Unicode MS"/>
              </a:rPr>
              <a:t>输入：新能源汽车预测销量=11.5百万辆；汽车预测总销量=31百万辆</a:t>
            </a:r>
            <a:endParaRPr lang="zh-CN" sz="1100"/>
          </a:p>
        </p:txBody>
      </p:sp>
      <p:sp>
        <p:nvSpPr>
          <p:cNvPr id="10" name="Shape 10"/>
          <p:cNvSpPr/>
          <p:nvPr/>
        </p:nvSpPr>
        <p:spPr>
          <a:xfrm>
            <a:off x="6263640" y="1508760"/>
            <a:ext cx="5257800" cy="3200400"/>
          </a:xfrm>
          <a:prstGeom prst="roundRect">
            <a:avLst/>
          </a:prstGeom>
          <a:solidFill>
            <a:srgbClr val="FFF7E5"/>
          </a:solidFill>
          <a:ln w="9525">
            <a:solidFill>
              <a:srgbClr val="F4DCA4"/>
            </a:solidFill>
          </a:ln>
        </p:spPr>
        <p:txBody>
          <a:bodyPr/>
          <a:lstStyle/>
          <a:p>
            <a:endParaRPr lang="zh-CN"/>
          </a:p>
        </p:txBody>
      </p:sp>
      <p:sp>
        <p:nvSpPr>
          <p:cNvPr id="11" name="Text 11"/>
          <p:cNvSpPr txBox="1"/>
          <p:nvPr/>
        </p:nvSpPr>
        <p:spPr>
          <a:xfrm>
            <a:off x="6629400" y="1828800"/>
            <a:ext cx="4297680" cy="731520"/>
          </a:xfrm>
          <a:prstGeom prst="rect">
            <a:avLst/>
          </a:prstGeom>
          <a:noFill/>
          <a:ln>
            <a:noFill/>
          </a:ln>
        </p:spPr>
        <p:txBody>
          <a:bodyPr wrap="square" lIns="27432" tIns="27432" rIns="27432" bIns="27432" anchor="ctr">
            <a:normAutofit/>
          </a:bodyPr>
          <a:lstStyle/>
          <a:p>
            <a:pPr algn="ctr"/>
            <a:r>
              <a:rPr lang="zh-CN" sz="3400" b="1">
                <a:solidFill>
                  <a:srgbClr val="122033"/>
                </a:solidFill>
                <a:latin typeface="Aptos Display"/>
                <a:ea typeface="Arial Unicode MS"/>
              </a:rPr>
              <a:t>3.04 百万</a:t>
            </a:r>
            <a:endParaRPr lang="zh-CN" sz="3400"/>
          </a:p>
        </p:txBody>
      </p:sp>
      <p:sp>
        <p:nvSpPr>
          <p:cNvPr id="12" name="Text 12"/>
          <p:cNvSpPr txBox="1"/>
          <p:nvPr/>
        </p:nvSpPr>
        <p:spPr>
          <a:xfrm>
            <a:off x="6629400" y="2651760"/>
            <a:ext cx="4297680" cy="310896"/>
          </a:xfrm>
          <a:prstGeom prst="rect">
            <a:avLst/>
          </a:prstGeom>
          <a:noFill/>
          <a:ln>
            <a:noFill/>
          </a:ln>
        </p:spPr>
        <p:txBody>
          <a:bodyPr wrap="square" lIns="27432" tIns="27432" rIns="27432" bIns="27432" anchor="ctr">
            <a:normAutofit/>
          </a:bodyPr>
          <a:lstStyle/>
          <a:p>
            <a:pPr algn="ctr"/>
            <a:r>
              <a:rPr lang="zh-CN" sz="1400" b="1">
                <a:solidFill>
                  <a:srgbClr val="566579"/>
                </a:solidFill>
                <a:latin typeface="Aptos Display"/>
                <a:ea typeface="Arial Unicode MS"/>
              </a:rPr>
              <a:t>风险调整后可有效服务充电点（估算）</a:t>
            </a:r>
            <a:endParaRPr lang="zh-CN" sz="1400"/>
          </a:p>
        </p:txBody>
      </p:sp>
      <p:sp>
        <p:nvSpPr>
          <p:cNvPr id="13" name="Text 13"/>
          <p:cNvSpPr txBox="1"/>
          <p:nvPr/>
        </p:nvSpPr>
        <p:spPr>
          <a:xfrm>
            <a:off x="6601968" y="3246120"/>
            <a:ext cx="4407408" cy="914400"/>
          </a:xfrm>
          <a:prstGeom prst="rect">
            <a:avLst/>
          </a:prstGeom>
          <a:noFill/>
          <a:ln>
            <a:noFill/>
          </a:ln>
        </p:spPr>
        <p:txBody>
          <a:bodyPr wrap="square" lIns="27432" tIns="27432" rIns="27432" bIns="27432" anchor="t">
            <a:normAutofit/>
          </a:bodyPr>
          <a:lstStyle/>
          <a:p>
            <a:pPr algn="l"/>
            <a:r>
              <a:rPr lang="zh-CN" sz="1100">
                <a:solidFill>
                  <a:srgbClr val="566579"/>
                </a:solidFill>
                <a:latin typeface="Aptos"/>
                <a:ea typeface="Arial Unicode MS"/>
              </a:rPr>
              <a:t>public_chargers_million * (1 - utilization_gap_assumption)</a:t>
            </a:r>
            <a:endParaRPr lang="zh-CN" sz="1100"/>
          </a:p>
          <a:p>
            <a:pPr algn="l"/>
            <a:r>
              <a:rPr lang="zh-CN" sz="1100">
                <a:solidFill>
                  <a:srgbClr val="566579"/>
                </a:solidFill>
                <a:latin typeface="Aptos"/>
                <a:ea typeface="Arial Unicode MS"/>
              </a:rPr>
              <a:t>假设：15% 利用率折损仅用于演示情景，不代表全国或地区实际利用率。</a:t>
            </a:r>
            <a:endParaRPr lang="zh-CN" sz="1100"/>
          </a:p>
        </p:txBody>
      </p:sp>
      <p:sp>
        <p:nvSpPr>
          <p:cNvPr id="14" name="Text 14"/>
          <p:cNvSpPr txBox="1"/>
          <p:nvPr/>
        </p:nvSpPr>
        <p:spPr>
          <a:xfrm>
            <a:off x="731520" y="5166360"/>
            <a:ext cx="10698480" cy="320040"/>
          </a:xfrm>
          <a:prstGeom prst="rect">
            <a:avLst/>
          </a:prstGeom>
          <a:noFill/>
          <a:ln>
            <a:noFill/>
          </a:ln>
        </p:spPr>
        <p:txBody>
          <a:bodyPr wrap="square" lIns="27432" tIns="27432" rIns="27432" bIns="27432" anchor="ctr">
            <a:normAutofit/>
          </a:bodyPr>
          <a:lstStyle/>
          <a:p>
            <a:pPr algn="l"/>
            <a:r>
              <a:rPr lang="zh-CN" sz="1100">
                <a:solidFill>
                  <a:srgbClr val="566579"/>
                </a:solidFill>
                <a:latin typeface="Aptos"/>
                <a:ea typeface="Arial Unicode MS"/>
              </a:rPr>
              <a:t>计算来源：market_v1.csv｜中汽协与中国充电联盟公开资料的结构化离线摘录</a:t>
            </a:r>
            <a:endParaRPr lang="zh-CN"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0" y="0"/>
            <a:ext cx="12191695" cy="109728"/>
          </a:xfrm>
          <a:prstGeom prst="rect">
            <a:avLst/>
          </a:prstGeom>
          <a:solidFill>
            <a:srgbClr val="22C3A6"/>
          </a:solidFill>
          <a:ln w="9525">
            <a:solidFill>
              <a:srgbClr val="22C3A6"/>
            </a:solidFill>
          </a:ln>
        </p:spPr>
        <p:txBody>
          <a:bodyPr/>
          <a:lstStyle/>
          <a:p>
            <a:endParaRPr lang="zh-CN"/>
          </a:p>
        </p:txBody>
      </p:sp>
      <p:sp>
        <p:nvSpPr>
          <p:cNvPr id="3" name="Text 3"/>
          <p:cNvSpPr txBox="1"/>
          <p:nvPr/>
        </p:nvSpPr>
        <p:spPr>
          <a:xfrm>
            <a:off x="640080" y="292608"/>
            <a:ext cx="5120640" cy="256032"/>
          </a:xfrm>
          <a:prstGeom prst="rect">
            <a:avLst/>
          </a:prstGeom>
          <a:noFill/>
          <a:ln>
            <a:noFill/>
          </a:ln>
        </p:spPr>
        <p:txBody>
          <a:bodyPr wrap="square" lIns="27432" tIns="27432" rIns="27432" bIns="27432" anchor="ctr">
            <a:normAutofit/>
          </a:bodyPr>
          <a:lstStyle/>
          <a:p>
            <a:pPr algn="l"/>
            <a:r>
              <a:rPr lang="zh-CN" sz="1000" b="1">
                <a:solidFill>
                  <a:srgbClr val="22C3A6"/>
                </a:solidFill>
                <a:latin typeface="Aptos Display"/>
                <a:ea typeface="Arial Unicode MS"/>
              </a:rPr>
              <a:t>BOUNDARIES</a:t>
            </a:r>
            <a:endParaRPr lang="zh-CN" sz="1000"/>
          </a:p>
        </p:txBody>
      </p:sp>
      <p:sp>
        <p:nvSpPr>
          <p:cNvPr id="4" name="Text 4"/>
          <p:cNvSpPr txBox="1"/>
          <p:nvPr/>
        </p:nvSpPr>
        <p:spPr>
          <a:xfrm>
            <a:off x="640080" y="658368"/>
            <a:ext cx="10515600" cy="621792"/>
          </a:xfrm>
          <a:prstGeom prst="rect">
            <a:avLst/>
          </a:prstGeom>
          <a:noFill/>
          <a:ln>
            <a:noFill/>
          </a:ln>
        </p:spPr>
        <p:txBody>
          <a:bodyPr wrap="square" lIns="27432" tIns="27432" rIns="27432" bIns="27432" anchor="ctr">
            <a:normAutofit/>
          </a:bodyPr>
          <a:lstStyle/>
          <a:p>
            <a:pPr algn="l"/>
            <a:r>
              <a:rPr lang="zh-CN" sz="2700" b="1">
                <a:solidFill>
                  <a:srgbClr val="122033"/>
                </a:solidFill>
                <a:latin typeface="Aptos Display"/>
                <a:ea typeface="Arial Unicode MS"/>
              </a:rPr>
              <a:t>冲突、假设与证据不足</a:t>
            </a:r>
            <a:endParaRPr lang="zh-CN" sz="2700"/>
          </a:p>
        </p:txBody>
      </p:sp>
      <p:sp>
        <p:nvSpPr>
          <p:cNvPr id="5" name="Text 5"/>
          <p:cNvSpPr txBox="1"/>
          <p:nvPr/>
        </p:nvSpPr>
        <p:spPr>
          <a:xfrm>
            <a:off x="11018520" y="6419088"/>
            <a:ext cx="502920" cy="182880"/>
          </a:xfrm>
          <a:prstGeom prst="rect">
            <a:avLst/>
          </a:prstGeom>
          <a:noFill/>
          <a:ln>
            <a:noFill/>
          </a:ln>
        </p:spPr>
        <p:txBody>
          <a:bodyPr wrap="square" lIns="27432" tIns="27432" rIns="27432" bIns="27432" anchor="ctr">
            <a:normAutofit/>
          </a:bodyPr>
          <a:lstStyle/>
          <a:p>
            <a:pPr algn="r"/>
            <a:r>
              <a:rPr lang="zh-CN" sz="900">
                <a:solidFill>
                  <a:srgbClr val="566579"/>
                </a:solidFill>
                <a:latin typeface="Aptos"/>
                <a:ea typeface="Arial Unicode MS"/>
              </a:rPr>
              <a:t>04</a:t>
            </a:r>
            <a:endParaRPr lang="zh-CN" sz="900"/>
          </a:p>
        </p:txBody>
      </p:sp>
      <p:sp>
        <p:nvSpPr>
          <p:cNvPr id="6" name="Text 6"/>
          <p:cNvSpPr txBox="1"/>
          <p:nvPr/>
        </p:nvSpPr>
        <p:spPr>
          <a:xfrm>
            <a:off x="731520" y="1508760"/>
            <a:ext cx="3474720" cy="365760"/>
          </a:xfrm>
          <a:prstGeom prst="rect">
            <a:avLst/>
          </a:prstGeom>
          <a:noFill/>
          <a:ln>
            <a:noFill/>
          </a:ln>
        </p:spPr>
        <p:txBody>
          <a:bodyPr wrap="square" lIns="27432" tIns="27432" rIns="27432" bIns="27432" anchor="ctr">
            <a:normAutofit/>
          </a:bodyPr>
          <a:lstStyle/>
          <a:p>
            <a:pPr algn="l"/>
            <a:r>
              <a:rPr lang="zh-CN" sz="2000" b="1">
                <a:solidFill>
                  <a:srgbClr val="F5B942"/>
                </a:solidFill>
                <a:latin typeface="Aptos Display"/>
                <a:ea typeface="Arial Unicode MS"/>
              </a:rPr>
              <a:t>来源冲突</a:t>
            </a:r>
            <a:endParaRPr lang="zh-CN" sz="2000"/>
          </a:p>
        </p:txBody>
      </p:sp>
      <p:sp>
        <p:nvSpPr>
          <p:cNvPr id="7" name="Text 7"/>
          <p:cNvSpPr txBox="1"/>
          <p:nvPr/>
        </p:nvSpPr>
        <p:spPr>
          <a:xfrm>
            <a:off x="731520" y="1965960"/>
            <a:ext cx="5166360" cy="1234440"/>
          </a:xfrm>
          <a:prstGeom prst="rect">
            <a:avLst/>
          </a:prstGeom>
          <a:noFill/>
          <a:ln>
            <a:noFill/>
          </a:ln>
        </p:spPr>
        <p:txBody>
          <a:bodyPr wrap="square" lIns="27432" tIns="27432" rIns="27432" bIns="27432" anchor="t">
            <a:normAutofit/>
          </a:bodyPr>
          <a:lstStyle/>
          <a:p>
            <a:pPr algn="l"/>
            <a:r>
              <a:rPr lang="zh-CN" sz="1400">
                <a:solidFill>
                  <a:srgbClr val="122033"/>
                </a:solidFill>
                <a:latin typeface="Aptos"/>
                <a:ea typeface="Arial Unicode MS"/>
              </a:rPr>
              <a:t>同一期间两项来源值分别为 47.6% 与 37.096774193548384%；差异可能来自车辆对象、分母、地域或交易口径。双值均保留，候选解释待人工裁决。</a:t>
            </a:r>
            <a:endParaRPr lang="zh-CN" sz="1400"/>
          </a:p>
        </p:txBody>
      </p:sp>
      <p:sp>
        <p:nvSpPr>
          <p:cNvPr id="8" name="Text 8"/>
          <p:cNvSpPr txBox="1"/>
          <p:nvPr/>
        </p:nvSpPr>
        <p:spPr>
          <a:xfrm>
            <a:off x="731520" y="3383280"/>
            <a:ext cx="5166360" cy="731520"/>
          </a:xfrm>
          <a:prstGeom prst="rect">
            <a:avLst/>
          </a:prstGeom>
          <a:noFill/>
          <a:ln>
            <a:noFill/>
          </a:ln>
        </p:spPr>
        <p:txBody>
          <a:bodyPr wrap="square" lIns="27432" tIns="27432" rIns="27432" bIns="27432" anchor="t">
            <a:normAutofit/>
          </a:bodyPr>
          <a:lstStyle/>
          <a:p>
            <a:pPr algn="l"/>
            <a:r>
              <a:rPr lang="zh-CN" sz="1100" b="1">
                <a:solidFill>
                  <a:srgbClr val="566579"/>
                </a:solidFill>
                <a:latin typeface="Aptos Display"/>
                <a:ea typeface="Arial Unicode MS"/>
              </a:rPr>
              <a:t>CANDIDATE_EXPLANATION</a:t>
            </a:r>
            <a:endParaRPr lang="zh-CN" sz="1100"/>
          </a:p>
          <a:p>
            <a:pPr algn="l"/>
            <a:r>
              <a:rPr lang="zh-CN" sz="1100" b="1">
                <a:solidFill>
                  <a:srgbClr val="566579"/>
                </a:solidFill>
                <a:latin typeface="Aptos Display"/>
                <a:ea typeface="Arial Unicode MS"/>
              </a:rPr>
              <a:t>保留双方数值，不静默取值，不求平均。</a:t>
            </a:r>
            <a:endParaRPr lang="zh-CN" sz="1100"/>
          </a:p>
        </p:txBody>
      </p:sp>
      <p:sp>
        <p:nvSpPr>
          <p:cNvPr id="9" name="Shape 9"/>
          <p:cNvSpPr/>
          <p:nvPr/>
        </p:nvSpPr>
        <p:spPr>
          <a:xfrm>
            <a:off x="6089904" y="1481328"/>
            <a:ext cx="10973" cy="4297680"/>
          </a:xfrm>
          <a:prstGeom prst="rect">
            <a:avLst/>
          </a:prstGeom>
          <a:solidFill>
            <a:srgbClr val="D8E1E7"/>
          </a:solidFill>
          <a:ln w="9525">
            <a:solidFill>
              <a:srgbClr val="D8E1E7"/>
            </a:solidFill>
          </a:ln>
        </p:spPr>
        <p:txBody>
          <a:bodyPr/>
          <a:lstStyle/>
          <a:p>
            <a:endParaRPr lang="zh-CN"/>
          </a:p>
        </p:txBody>
      </p:sp>
      <p:sp>
        <p:nvSpPr>
          <p:cNvPr id="10" name="Text 10"/>
          <p:cNvSpPr txBox="1"/>
          <p:nvPr/>
        </p:nvSpPr>
        <p:spPr>
          <a:xfrm>
            <a:off x="6446520" y="1508760"/>
            <a:ext cx="3474720" cy="365760"/>
          </a:xfrm>
          <a:prstGeom prst="rect">
            <a:avLst/>
          </a:prstGeom>
          <a:noFill/>
          <a:ln>
            <a:noFill/>
          </a:ln>
        </p:spPr>
        <p:txBody>
          <a:bodyPr wrap="square" lIns="27432" tIns="27432" rIns="27432" bIns="27432" anchor="ctr">
            <a:normAutofit/>
          </a:bodyPr>
          <a:lstStyle/>
          <a:p>
            <a:pPr algn="l"/>
            <a:r>
              <a:rPr lang="zh-CN" sz="2000" b="1">
                <a:solidFill>
                  <a:srgbClr val="E85D75"/>
                </a:solidFill>
                <a:latin typeface="Aptos Display"/>
                <a:ea typeface="Arial Unicode MS"/>
              </a:rPr>
              <a:t>证据不足</a:t>
            </a:r>
            <a:endParaRPr lang="zh-CN" sz="2000"/>
          </a:p>
        </p:txBody>
      </p:sp>
      <p:sp>
        <p:nvSpPr>
          <p:cNvPr id="11" name="Text 11"/>
          <p:cNvSpPr txBox="1"/>
          <p:nvPr/>
        </p:nvSpPr>
        <p:spPr>
          <a:xfrm>
            <a:off x="6446520" y="1965960"/>
            <a:ext cx="4846320" cy="1234440"/>
          </a:xfrm>
          <a:prstGeom prst="rect">
            <a:avLst/>
          </a:prstGeom>
          <a:noFill/>
          <a:ln>
            <a:noFill/>
          </a:ln>
        </p:spPr>
        <p:txBody>
          <a:bodyPr wrap="square" lIns="27432" tIns="27432" rIns="27432" bIns="27432" anchor="t">
            <a:normAutofit/>
          </a:bodyPr>
          <a:lstStyle/>
          <a:p>
            <a:pPr algn="l"/>
            <a:r>
              <a:rPr lang="zh-CN" sz="1400">
                <a:solidFill>
                  <a:srgbClr val="122033"/>
                </a:solidFill>
                <a:latin typeface="Aptos"/>
                <a:ea typeface="Arial Unicode MS"/>
              </a:rPr>
              <a:t>现有全国描述性资料不足以证明公共充电基础设施是新能源乘用车渗透率增长的单一因果约束；在地区对照、利用率和混杂因素资料补齐前，这一判断必须保持证据不足。</a:t>
            </a:r>
            <a:endParaRPr lang="zh-CN" sz="1400"/>
          </a:p>
        </p:txBody>
      </p:sp>
      <p:sp>
        <p:nvSpPr>
          <p:cNvPr id="12" name="Shape 12"/>
          <p:cNvSpPr/>
          <p:nvPr/>
        </p:nvSpPr>
        <p:spPr>
          <a:xfrm>
            <a:off x="6446520" y="3337560"/>
            <a:ext cx="2240280" cy="329184"/>
          </a:xfrm>
          <a:prstGeom prst="roundRect">
            <a:avLst/>
          </a:prstGeom>
          <a:solidFill>
            <a:srgbClr val="E85D75"/>
          </a:solidFill>
          <a:ln w="9525">
            <a:solidFill>
              <a:srgbClr val="E85D75"/>
            </a:solidFill>
          </a:ln>
        </p:spPr>
        <p:txBody>
          <a:bodyPr/>
          <a:lstStyle/>
          <a:p>
            <a:endParaRPr lang="zh-CN"/>
          </a:p>
        </p:txBody>
      </p:sp>
      <p:sp>
        <p:nvSpPr>
          <p:cNvPr id="13" name="Text 13"/>
          <p:cNvSpPr txBox="1"/>
          <p:nvPr/>
        </p:nvSpPr>
        <p:spPr>
          <a:xfrm>
            <a:off x="6519672" y="3383280"/>
            <a:ext cx="2093976" cy="210312"/>
          </a:xfrm>
          <a:prstGeom prst="rect">
            <a:avLst/>
          </a:prstGeom>
          <a:noFill/>
          <a:ln>
            <a:noFill/>
          </a:ln>
        </p:spPr>
        <p:txBody>
          <a:bodyPr wrap="square" lIns="27432" tIns="27432" rIns="27432" bIns="27432" anchor="ctr">
            <a:normAutofit/>
          </a:bodyPr>
          <a:lstStyle/>
          <a:p>
            <a:pPr algn="ctr"/>
            <a:r>
              <a:rPr lang="zh-CN" sz="800" b="1">
                <a:solidFill>
                  <a:srgbClr val="FFFFFF"/>
                </a:solidFill>
                <a:latin typeface="Aptos Display"/>
                <a:ea typeface="Arial Unicode MS"/>
              </a:rPr>
              <a:t>INSUFFICIENT_EVIDENCE</a:t>
            </a:r>
            <a:endParaRPr lang="zh-CN" sz="800"/>
          </a:p>
        </p:txBody>
      </p:sp>
      <p:sp>
        <p:nvSpPr>
          <p:cNvPr id="14" name="Text 14"/>
          <p:cNvSpPr txBox="1"/>
          <p:nvPr/>
        </p:nvSpPr>
        <p:spPr>
          <a:xfrm>
            <a:off x="6446520" y="3867912"/>
            <a:ext cx="4846320" cy="694944"/>
          </a:xfrm>
          <a:prstGeom prst="rect">
            <a:avLst/>
          </a:prstGeom>
          <a:noFill/>
          <a:ln>
            <a:noFill/>
          </a:ln>
        </p:spPr>
        <p:txBody>
          <a:bodyPr wrap="square" lIns="27432" tIns="27432" rIns="27432" bIns="27432" anchor="t">
            <a:normAutofit/>
          </a:bodyPr>
          <a:lstStyle/>
          <a:p>
            <a:pPr algn="l"/>
            <a:r>
              <a:rPr lang="zh-CN" sz="1100" b="1">
                <a:solidFill>
                  <a:srgbClr val="E85D75"/>
                </a:solidFill>
                <a:latin typeface="Aptos Display"/>
                <a:ea typeface="Arial Unicode MS"/>
              </a:rPr>
              <a:t>缺少：地区层面的公共充电供给、家充、销量和利用率对照；价格、车型、政策、收入和城市结构等混杂因素；可支持因果识别的时间序列、自然实验或其他研究设计</a:t>
            </a:r>
            <a:endParaRPr lang="zh-CN" sz="1100"/>
          </a:p>
        </p:txBody>
      </p:sp>
      <p:sp>
        <p:nvSpPr>
          <p:cNvPr id="15" name="Text 15"/>
          <p:cNvSpPr txBox="1"/>
          <p:nvPr/>
        </p:nvSpPr>
        <p:spPr>
          <a:xfrm>
            <a:off x="6446520" y="4800600"/>
            <a:ext cx="4846320" cy="384048"/>
          </a:xfrm>
          <a:prstGeom prst="rect">
            <a:avLst/>
          </a:prstGeom>
          <a:noFill/>
          <a:ln>
            <a:noFill/>
          </a:ln>
        </p:spPr>
        <p:txBody>
          <a:bodyPr wrap="square" lIns="27432" tIns="27432" rIns="27432" bIns="27432" anchor="ctr">
            <a:normAutofit/>
          </a:bodyPr>
          <a:lstStyle/>
          <a:p>
            <a:pPr algn="l"/>
            <a:r>
              <a:rPr lang="zh-CN" sz="1100">
                <a:solidFill>
                  <a:srgbClr val="566579"/>
                </a:solidFill>
                <a:latin typeface="Aptos"/>
                <a:ea typeface="Arial Unicode MS"/>
              </a:rPr>
              <a:t>状态保留在报告、PPTX 与 JSON；禁止自动确认。</a:t>
            </a:r>
            <a:endParaRPr lang="zh-CN"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0" y="0"/>
            <a:ext cx="12191695" cy="109728"/>
          </a:xfrm>
          <a:prstGeom prst="rect">
            <a:avLst/>
          </a:prstGeom>
          <a:solidFill>
            <a:srgbClr val="22C3A6"/>
          </a:solidFill>
          <a:ln w="9525">
            <a:solidFill>
              <a:srgbClr val="22C3A6"/>
            </a:solidFill>
          </a:ln>
        </p:spPr>
        <p:txBody>
          <a:bodyPr/>
          <a:lstStyle/>
          <a:p>
            <a:endParaRPr lang="zh-CN"/>
          </a:p>
        </p:txBody>
      </p:sp>
      <p:sp>
        <p:nvSpPr>
          <p:cNvPr id="3" name="Text 3"/>
          <p:cNvSpPr txBox="1"/>
          <p:nvPr/>
        </p:nvSpPr>
        <p:spPr>
          <a:xfrm>
            <a:off x="640080" y="292608"/>
            <a:ext cx="5120640" cy="256032"/>
          </a:xfrm>
          <a:prstGeom prst="rect">
            <a:avLst/>
          </a:prstGeom>
          <a:noFill/>
          <a:ln>
            <a:noFill/>
          </a:ln>
        </p:spPr>
        <p:txBody>
          <a:bodyPr wrap="square" lIns="27432" tIns="27432" rIns="27432" bIns="27432" anchor="ctr">
            <a:normAutofit/>
          </a:bodyPr>
          <a:lstStyle/>
          <a:p>
            <a:pPr algn="l"/>
            <a:r>
              <a:rPr lang="zh-CN" sz="1000" b="1">
                <a:solidFill>
                  <a:srgbClr val="22C3A6"/>
                </a:solidFill>
                <a:latin typeface="Aptos Display"/>
                <a:ea typeface="Arial Unicode MS"/>
              </a:rPr>
              <a:t>TRACEABILITY</a:t>
            </a:r>
            <a:endParaRPr lang="zh-CN" sz="1000"/>
          </a:p>
        </p:txBody>
      </p:sp>
      <p:sp>
        <p:nvSpPr>
          <p:cNvPr id="4" name="Text 4"/>
          <p:cNvSpPr txBox="1"/>
          <p:nvPr/>
        </p:nvSpPr>
        <p:spPr>
          <a:xfrm>
            <a:off x="640080" y="658368"/>
            <a:ext cx="10515600" cy="621792"/>
          </a:xfrm>
          <a:prstGeom prst="rect">
            <a:avLst/>
          </a:prstGeom>
          <a:noFill/>
          <a:ln>
            <a:noFill/>
          </a:ln>
        </p:spPr>
        <p:txBody>
          <a:bodyPr wrap="square" lIns="27432" tIns="27432" rIns="27432" bIns="27432" anchor="ctr">
            <a:normAutofit/>
          </a:bodyPr>
          <a:lstStyle/>
          <a:p>
            <a:pPr algn="l"/>
            <a:r>
              <a:rPr lang="zh-CN" sz="2700" b="1">
                <a:solidFill>
                  <a:srgbClr val="122033"/>
                </a:solidFill>
                <a:latin typeface="Aptos Display"/>
                <a:ea typeface="Arial Unicode MS"/>
              </a:rPr>
              <a:t>来源、定位与最终责任</a:t>
            </a:r>
            <a:endParaRPr lang="zh-CN" sz="2700"/>
          </a:p>
        </p:txBody>
      </p:sp>
      <p:sp>
        <p:nvSpPr>
          <p:cNvPr id="5" name="Text 5"/>
          <p:cNvSpPr txBox="1"/>
          <p:nvPr/>
        </p:nvSpPr>
        <p:spPr>
          <a:xfrm>
            <a:off x="11018520" y="6419088"/>
            <a:ext cx="502920" cy="182880"/>
          </a:xfrm>
          <a:prstGeom prst="rect">
            <a:avLst/>
          </a:prstGeom>
          <a:noFill/>
          <a:ln>
            <a:noFill/>
          </a:ln>
        </p:spPr>
        <p:txBody>
          <a:bodyPr wrap="square" lIns="27432" tIns="27432" rIns="27432" bIns="27432" anchor="ctr">
            <a:normAutofit/>
          </a:bodyPr>
          <a:lstStyle/>
          <a:p>
            <a:pPr algn="r"/>
            <a:r>
              <a:rPr lang="zh-CN" sz="900">
                <a:solidFill>
                  <a:srgbClr val="566579"/>
                </a:solidFill>
                <a:latin typeface="Aptos"/>
                <a:ea typeface="Arial Unicode MS"/>
              </a:rPr>
              <a:t>05</a:t>
            </a:r>
            <a:endParaRPr lang="zh-CN" sz="900"/>
          </a:p>
        </p:txBody>
      </p:sp>
      <p:sp>
        <p:nvSpPr>
          <p:cNvPr id="6" name="Text 6"/>
          <p:cNvSpPr txBox="1"/>
          <p:nvPr/>
        </p:nvSpPr>
        <p:spPr>
          <a:xfrm>
            <a:off x="685800" y="1417320"/>
            <a:ext cx="502920" cy="228600"/>
          </a:xfrm>
          <a:prstGeom prst="rect">
            <a:avLst/>
          </a:prstGeom>
          <a:noFill/>
          <a:ln>
            <a:noFill/>
          </a:ln>
        </p:spPr>
        <p:txBody>
          <a:bodyPr wrap="square" lIns="27432" tIns="27432" rIns="27432" bIns="27432" anchor="ctr">
            <a:normAutofit/>
          </a:bodyPr>
          <a:lstStyle/>
          <a:p>
            <a:pPr algn="l"/>
            <a:r>
              <a:rPr lang="zh-CN" sz="1100" b="1">
                <a:solidFill>
                  <a:srgbClr val="22C3A6"/>
                </a:solidFill>
                <a:latin typeface="Aptos Display"/>
                <a:ea typeface="Arial Unicode MS"/>
              </a:rPr>
              <a:t>[S1]</a:t>
            </a:r>
            <a:endParaRPr lang="zh-CN" sz="1100"/>
          </a:p>
        </p:txBody>
      </p:sp>
      <p:sp>
        <p:nvSpPr>
          <p:cNvPr id="7" name="Text 7"/>
          <p:cNvSpPr txBox="1"/>
          <p:nvPr/>
        </p:nvSpPr>
        <p:spPr>
          <a:xfrm>
            <a:off x="1325880" y="1417320"/>
            <a:ext cx="6812280" cy="274320"/>
          </a:xfrm>
          <a:prstGeom prst="rect">
            <a:avLst/>
          </a:prstGeom>
          <a:noFill/>
          <a:ln>
            <a:noFill/>
          </a:ln>
        </p:spPr>
        <p:txBody>
          <a:bodyPr wrap="square" lIns="27432" tIns="27432" rIns="27432" bIns="27432" anchor="ctr">
            <a:normAutofit/>
          </a:bodyPr>
          <a:lstStyle/>
          <a:p>
            <a:pPr algn="l"/>
            <a:r>
              <a:rPr lang="zh-CN" sz="1200" b="1">
                <a:solidFill>
                  <a:srgbClr val="122033"/>
                </a:solidFill>
                <a:latin typeface="Aptos Display"/>
                <a:ea typeface="Arial Unicode MS"/>
              </a:rPr>
              <a:t>2024年12月份全国乘用车市场分析</a:t>
            </a:r>
            <a:endParaRPr lang="zh-CN" sz="1200"/>
          </a:p>
        </p:txBody>
      </p:sp>
      <p:sp>
        <p:nvSpPr>
          <p:cNvPr id="8" name="Text 8"/>
          <p:cNvSpPr txBox="1"/>
          <p:nvPr/>
        </p:nvSpPr>
        <p:spPr>
          <a:xfrm>
            <a:off x="1325880" y="1746504"/>
            <a:ext cx="7680960" cy="201168"/>
          </a:xfrm>
          <a:prstGeom prst="rect">
            <a:avLst/>
          </a:prstGeom>
          <a:noFill/>
          <a:ln>
            <a:noFill/>
          </a:ln>
        </p:spPr>
        <p:txBody>
          <a:bodyPr wrap="square" lIns="27432" tIns="27432" rIns="27432" bIns="27432" anchor="ctr">
            <a:normAutofit/>
          </a:bodyPr>
          <a:lstStyle/>
          <a:p>
            <a:pPr algn="l"/>
            <a:r>
              <a:rPr lang="zh-CN" sz="800">
                <a:solidFill>
                  <a:srgbClr val="566579"/>
                </a:solidFill>
                <a:latin typeface="Aptos"/>
                <a:ea typeface="Arial Unicode MS"/>
              </a:rPr>
              <a:t>https://www.cada.cn/Trends/info_91_10118.html</a:t>
            </a:r>
            <a:endParaRPr lang="zh-CN" sz="800"/>
          </a:p>
        </p:txBody>
      </p:sp>
      <p:sp>
        <p:nvSpPr>
          <p:cNvPr id="9" name="Text 9"/>
          <p:cNvSpPr txBox="1"/>
          <p:nvPr/>
        </p:nvSpPr>
        <p:spPr>
          <a:xfrm>
            <a:off x="685800" y="2286000"/>
            <a:ext cx="502920" cy="228600"/>
          </a:xfrm>
          <a:prstGeom prst="rect">
            <a:avLst/>
          </a:prstGeom>
          <a:noFill/>
          <a:ln>
            <a:noFill/>
          </a:ln>
        </p:spPr>
        <p:txBody>
          <a:bodyPr wrap="square" lIns="27432" tIns="27432" rIns="27432" bIns="27432" anchor="ctr">
            <a:normAutofit/>
          </a:bodyPr>
          <a:lstStyle/>
          <a:p>
            <a:pPr algn="l"/>
            <a:r>
              <a:rPr lang="zh-CN" sz="1100" b="1">
                <a:solidFill>
                  <a:srgbClr val="22C3A6"/>
                </a:solidFill>
                <a:latin typeface="Aptos Display"/>
                <a:ea typeface="Arial Unicode MS"/>
              </a:rPr>
              <a:t>[S2]</a:t>
            </a:r>
            <a:endParaRPr lang="zh-CN" sz="1100"/>
          </a:p>
        </p:txBody>
      </p:sp>
      <p:sp>
        <p:nvSpPr>
          <p:cNvPr id="10" name="Text 10"/>
          <p:cNvSpPr txBox="1"/>
          <p:nvPr/>
        </p:nvSpPr>
        <p:spPr>
          <a:xfrm>
            <a:off x="1325880" y="2286000"/>
            <a:ext cx="6812280" cy="274320"/>
          </a:xfrm>
          <a:prstGeom prst="rect">
            <a:avLst/>
          </a:prstGeom>
          <a:noFill/>
          <a:ln>
            <a:noFill/>
          </a:ln>
        </p:spPr>
        <p:txBody>
          <a:bodyPr wrap="square" lIns="27432" tIns="27432" rIns="27432" bIns="27432" anchor="ctr">
            <a:normAutofit/>
          </a:bodyPr>
          <a:lstStyle/>
          <a:p>
            <a:pPr algn="l"/>
            <a:r>
              <a:rPr lang="zh-CN" sz="1200" b="1">
                <a:solidFill>
                  <a:srgbClr val="122033"/>
                </a:solidFill>
                <a:latin typeface="Aptos Display"/>
                <a:ea typeface="Arial Unicode MS"/>
              </a:rPr>
              <a:t>乘联分会2025年新能源乘用车市场预测</a:t>
            </a:r>
            <a:endParaRPr lang="zh-CN" sz="1200"/>
          </a:p>
        </p:txBody>
      </p:sp>
      <p:sp>
        <p:nvSpPr>
          <p:cNvPr id="11" name="Text 11"/>
          <p:cNvSpPr txBox="1"/>
          <p:nvPr/>
        </p:nvSpPr>
        <p:spPr>
          <a:xfrm>
            <a:off x="1325880" y="2615184"/>
            <a:ext cx="7680960" cy="201168"/>
          </a:xfrm>
          <a:prstGeom prst="rect">
            <a:avLst/>
          </a:prstGeom>
          <a:noFill/>
          <a:ln>
            <a:noFill/>
          </a:ln>
        </p:spPr>
        <p:txBody>
          <a:bodyPr wrap="square" lIns="27432" tIns="27432" rIns="27432" bIns="27432" anchor="ctr">
            <a:normAutofit/>
          </a:bodyPr>
          <a:lstStyle/>
          <a:p>
            <a:pPr algn="l"/>
            <a:r>
              <a:rPr lang="zh-CN" sz="800">
                <a:solidFill>
                  <a:srgbClr val="566579"/>
                </a:solidFill>
                <a:latin typeface="Aptos"/>
                <a:ea typeface="Arial Unicode MS"/>
              </a:rPr>
              <a:t>https://www.cada.cn/Trends/info_91_10118.html</a:t>
            </a:r>
            <a:endParaRPr lang="zh-CN" sz="800"/>
          </a:p>
        </p:txBody>
      </p:sp>
      <p:sp>
        <p:nvSpPr>
          <p:cNvPr id="12" name="Text 12"/>
          <p:cNvSpPr txBox="1"/>
          <p:nvPr/>
        </p:nvSpPr>
        <p:spPr>
          <a:xfrm>
            <a:off x="685800" y="3154680"/>
            <a:ext cx="502920" cy="228600"/>
          </a:xfrm>
          <a:prstGeom prst="rect">
            <a:avLst/>
          </a:prstGeom>
          <a:noFill/>
          <a:ln>
            <a:noFill/>
          </a:ln>
        </p:spPr>
        <p:txBody>
          <a:bodyPr wrap="square" lIns="27432" tIns="27432" rIns="27432" bIns="27432" anchor="ctr">
            <a:normAutofit/>
          </a:bodyPr>
          <a:lstStyle/>
          <a:p>
            <a:pPr algn="l"/>
            <a:r>
              <a:rPr lang="zh-CN" sz="1100" b="1">
                <a:solidFill>
                  <a:srgbClr val="22C3A6"/>
                </a:solidFill>
                <a:latin typeface="Aptos Display"/>
                <a:ea typeface="Arial Unicode MS"/>
              </a:rPr>
              <a:t>[S3]</a:t>
            </a:r>
            <a:endParaRPr lang="zh-CN" sz="1100"/>
          </a:p>
        </p:txBody>
      </p:sp>
      <p:sp>
        <p:nvSpPr>
          <p:cNvPr id="13" name="Text 13"/>
          <p:cNvSpPr txBox="1"/>
          <p:nvPr/>
        </p:nvSpPr>
        <p:spPr>
          <a:xfrm>
            <a:off x="1325880" y="3154680"/>
            <a:ext cx="6812280" cy="274320"/>
          </a:xfrm>
          <a:prstGeom prst="rect">
            <a:avLst/>
          </a:prstGeom>
          <a:noFill/>
          <a:ln>
            <a:noFill/>
          </a:ln>
        </p:spPr>
        <p:txBody>
          <a:bodyPr wrap="square" lIns="27432" tIns="27432" rIns="27432" bIns="27432" anchor="ctr">
            <a:normAutofit/>
          </a:bodyPr>
          <a:lstStyle/>
          <a:p>
            <a:pPr algn="l"/>
            <a:r>
              <a:rPr lang="zh-CN" sz="1200" b="1">
                <a:solidFill>
                  <a:srgbClr val="122033"/>
                </a:solidFill>
                <a:latin typeface="Aptos Display"/>
                <a:ea typeface="Arial Unicode MS"/>
              </a:rPr>
              <a:t>2024年全国电动汽车充换电基础设施运行情况</a:t>
            </a:r>
            <a:endParaRPr lang="zh-CN" sz="1200"/>
          </a:p>
        </p:txBody>
      </p:sp>
      <p:sp>
        <p:nvSpPr>
          <p:cNvPr id="14" name="Text 14"/>
          <p:cNvSpPr txBox="1"/>
          <p:nvPr/>
        </p:nvSpPr>
        <p:spPr>
          <a:xfrm>
            <a:off x="1325880" y="3483864"/>
            <a:ext cx="7680960" cy="201168"/>
          </a:xfrm>
          <a:prstGeom prst="rect">
            <a:avLst/>
          </a:prstGeom>
          <a:noFill/>
          <a:ln>
            <a:noFill/>
          </a:ln>
        </p:spPr>
        <p:txBody>
          <a:bodyPr wrap="square" lIns="27432" tIns="27432" rIns="27432" bIns="27432" anchor="ctr">
            <a:normAutofit/>
          </a:bodyPr>
          <a:lstStyle/>
          <a:p>
            <a:pPr algn="l"/>
            <a:r>
              <a:rPr lang="zh-CN" sz="800">
                <a:solidFill>
                  <a:srgbClr val="566579"/>
                </a:solidFill>
                <a:latin typeface="Aptos"/>
                <a:ea typeface="Arial Unicode MS"/>
              </a:rPr>
              <a:t>https://www.evcipa.org.cn/newsinfo/8137834.html</a:t>
            </a:r>
            <a:endParaRPr lang="zh-CN" sz="800"/>
          </a:p>
        </p:txBody>
      </p:sp>
      <p:sp>
        <p:nvSpPr>
          <p:cNvPr id="15" name="Text 15"/>
          <p:cNvSpPr txBox="1"/>
          <p:nvPr/>
        </p:nvSpPr>
        <p:spPr>
          <a:xfrm>
            <a:off x="685800" y="4023360"/>
            <a:ext cx="502920" cy="228600"/>
          </a:xfrm>
          <a:prstGeom prst="rect">
            <a:avLst/>
          </a:prstGeom>
          <a:noFill/>
          <a:ln>
            <a:noFill/>
          </a:ln>
        </p:spPr>
        <p:txBody>
          <a:bodyPr wrap="square" lIns="27432" tIns="27432" rIns="27432" bIns="27432" anchor="ctr">
            <a:normAutofit/>
          </a:bodyPr>
          <a:lstStyle/>
          <a:p>
            <a:pPr algn="l"/>
            <a:r>
              <a:rPr lang="zh-CN" sz="1100" b="1">
                <a:solidFill>
                  <a:srgbClr val="22C3A6"/>
                </a:solidFill>
                <a:latin typeface="Aptos Display"/>
                <a:ea typeface="Arial Unicode MS"/>
              </a:rPr>
              <a:t>[S4]</a:t>
            </a:r>
            <a:endParaRPr lang="zh-CN" sz="1100"/>
          </a:p>
        </p:txBody>
      </p:sp>
      <p:sp>
        <p:nvSpPr>
          <p:cNvPr id="16" name="Text 16"/>
          <p:cNvSpPr txBox="1"/>
          <p:nvPr/>
        </p:nvSpPr>
        <p:spPr>
          <a:xfrm>
            <a:off x="1325880" y="4023360"/>
            <a:ext cx="6812280" cy="274320"/>
          </a:xfrm>
          <a:prstGeom prst="rect">
            <a:avLst/>
          </a:prstGeom>
          <a:noFill/>
          <a:ln>
            <a:noFill/>
          </a:ln>
        </p:spPr>
        <p:txBody>
          <a:bodyPr wrap="square" lIns="27432" tIns="27432" rIns="27432" bIns="27432" anchor="ctr">
            <a:normAutofit/>
          </a:bodyPr>
          <a:lstStyle/>
          <a:p>
            <a:pPr algn="l"/>
            <a:r>
              <a:rPr lang="zh-CN" sz="1200" b="1">
                <a:solidFill>
                  <a:srgbClr val="122033"/>
                </a:solidFill>
                <a:latin typeface="Aptos Display"/>
                <a:ea typeface="Arial Unicode MS"/>
              </a:rPr>
              <a:t>合成演示材料：新能源汽车与充电证据边界</a:t>
            </a:r>
            <a:endParaRPr lang="zh-CN" sz="1200"/>
          </a:p>
        </p:txBody>
      </p:sp>
      <p:sp>
        <p:nvSpPr>
          <p:cNvPr id="17" name="Text 17"/>
          <p:cNvSpPr txBox="1"/>
          <p:nvPr/>
        </p:nvSpPr>
        <p:spPr>
          <a:xfrm>
            <a:off x="1325880" y="4352544"/>
            <a:ext cx="7680960" cy="201168"/>
          </a:xfrm>
          <a:prstGeom prst="rect">
            <a:avLst/>
          </a:prstGeom>
          <a:noFill/>
          <a:ln>
            <a:noFill/>
          </a:ln>
        </p:spPr>
        <p:txBody>
          <a:bodyPr wrap="square" lIns="27432" tIns="27432" rIns="27432" bIns="27432" anchor="ctr">
            <a:normAutofit/>
          </a:bodyPr>
          <a:lstStyle/>
          <a:p>
            <a:pPr algn="l"/>
            <a:r>
              <a:rPr lang="zh-CN" sz="800">
                <a:solidFill>
                  <a:srgbClr val="566579"/>
                </a:solidFill>
                <a:latin typeface="Aptos"/>
                <a:ea typeface="Arial Unicode MS"/>
              </a:rPr>
              <a:t>market-brief.pdf · p.1</a:t>
            </a:r>
            <a:endParaRPr lang="zh-CN" sz="800"/>
          </a:p>
        </p:txBody>
      </p:sp>
      <p:sp>
        <p:nvSpPr>
          <p:cNvPr id="18" name="Text 18"/>
          <p:cNvSpPr txBox="1"/>
          <p:nvPr/>
        </p:nvSpPr>
        <p:spPr>
          <a:xfrm>
            <a:off x="685800" y="4892040"/>
            <a:ext cx="502920" cy="228600"/>
          </a:xfrm>
          <a:prstGeom prst="rect">
            <a:avLst/>
          </a:prstGeom>
          <a:noFill/>
          <a:ln>
            <a:noFill/>
          </a:ln>
        </p:spPr>
        <p:txBody>
          <a:bodyPr wrap="square" lIns="27432" tIns="27432" rIns="27432" bIns="27432" anchor="ctr">
            <a:normAutofit/>
          </a:bodyPr>
          <a:lstStyle/>
          <a:p>
            <a:pPr algn="l"/>
            <a:r>
              <a:rPr lang="zh-CN" sz="1100" b="1">
                <a:solidFill>
                  <a:srgbClr val="22C3A6"/>
                </a:solidFill>
                <a:latin typeface="Aptos Display"/>
                <a:ea typeface="Arial Unicode MS"/>
              </a:rPr>
              <a:t>[S5]</a:t>
            </a:r>
            <a:endParaRPr lang="zh-CN" sz="1100"/>
          </a:p>
        </p:txBody>
      </p:sp>
      <p:sp>
        <p:nvSpPr>
          <p:cNvPr id="19" name="Text 19"/>
          <p:cNvSpPr txBox="1"/>
          <p:nvPr/>
        </p:nvSpPr>
        <p:spPr>
          <a:xfrm>
            <a:off x="1325880" y="4892040"/>
            <a:ext cx="6812280" cy="274320"/>
          </a:xfrm>
          <a:prstGeom prst="rect">
            <a:avLst/>
          </a:prstGeom>
          <a:noFill/>
          <a:ln>
            <a:noFill/>
          </a:ln>
        </p:spPr>
        <p:txBody>
          <a:bodyPr wrap="square" lIns="27432" tIns="27432" rIns="27432" bIns="27432" anchor="ctr">
            <a:normAutofit/>
          </a:bodyPr>
          <a:lstStyle/>
          <a:p>
            <a:pPr algn="l"/>
            <a:r>
              <a:rPr lang="zh-CN" sz="1200" b="1">
                <a:solidFill>
                  <a:srgbClr val="122033"/>
                </a:solidFill>
                <a:latin typeface="Aptos Display"/>
                <a:ea typeface="Arial Unicode MS"/>
              </a:rPr>
              <a:t>公开数据结构化演示摘录 — 2024 预测输入</a:t>
            </a:r>
            <a:endParaRPr lang="zh-CN" sz="1200"/>
          </a:p>
        </p:txBody>
      </p:sp>
      <p:sp>
        <p:nvSpPr>
          <p:cNvPr id="20" name="Text 20"/>
          <p:cNvSpPr txBox="1"/>
          <p:nvPr/>
        </p:nvSpPr>
        <p:spPr>
          <a:xfrm>
            <a:off x="1325880" y="5221224"/>
            <a:ext cx="7680960" cy="201168"/>
          </a:xfrm>
          <a:prstGeom prst="rect">
            <a:avLst/>
          </a:prstGeom>
          <a:noFill/>
          <a:ln>
            <a:noFill/>
          </a:ln>
        </p:spPr>
        <p:txBody>
          <a:bodyPr wrap="square" lIns="27432" tIns="27432" rIns="27432" bIns="27432" anchor="ctr">
            <a:normAutofit/>
          </a:bodyPr>
          <a:lstStyle/>
          <a:p>
            <a:pPr algn="l"/>
            <a:r>
              <a:rPr lang="zh-CN" sz="800">
                <a:solidFill>
                  <a:srgbClr val="566579"/>
                </a:solidFill>
                <a:latin typeface="Aptos"/>
                <a:ea typeface="Arial Unicode MS"/>
              </a:rPr>
              <a:t>https://www.caam.org.cn/chn/1/cate_3/con_5236311.html</a:t>
            </a:r>
            <a:endParaRPr lang="zh-CN" sz="800"/>
          </a:p>
        </p:txBody>
      </p:sp>
      <p:sp>
        <p:nvSpPr>
          <p:cNvPr id="21" name="Shape 21"/>
          <p:cNvSpPr/>
          <p:nvPr/>
        </p:nvSpPr>
        <p:spPr>
          <a:xfrm>
            <a:off x="8823960" y="1417320"/>
            <a:ext cx="2606040" cy="3566160"/>
          </a:xfrm>
          <a:prstGeom prst="roundRect">
            <a:avLst/>
          </a:prstGeom>
          <a:solidFill>
            <a:srgbClr val="122033"/>
          </a:solidFill>
          <a:ln w="9525">
            <a:solidFill>
              <a:srgbClr val="122033"/>
            </a:solidFill>
          </a:ln>
        </p:spPr>
        <p:txBody>
          <a:bodyPr/>
          <a:lstStyle/>
          <a:p>
            <a:endParaRPr lang="zh-CN"/>
          </a:p>
        </p:txBody>
      </p:sp>
      <p:sp>
        <p:nvSpPr>
          <p:cNvPr id="22" name="Text 22"/>
          <p:cNvSpPr txBox="1"/>
          <p:nvPr/>
        </p:nvSpPr>
        <p:spPr>
          <a:xfrm>
            <a:off x="9189720" y="1874520"/>
            <a:ext cx="1874520" cy="2468880"/>
          </a:xfrm>
          <a:prstGeom prst="rect">
            <a:avLst/>
          </a:prstGeom>
          <a:noFill/>
          <a:ln>
            <a:noFill/>
          </a:ln>
        </p:spPr>
        <p:txBody>
          <a:bodyPr wrap="square" lIns="27432" tIns="27432" rIns="27432" bIns="27432" anchor="ctr">
            <a:normAutofit/>
          </a:bodyPr>
          <a:lstStyle/>
          <a:p>
            <a:pPr algn="ctr"/>
            <a:r>
              <a:rPr lang="zh-CN" sz="1600" b="1">
                <a:solidFill>
                  <a:srgbClr val="FFFFFF"/>
                </a:solidFill>
                <a:latin typeface="Aptos Display"/>
                <a:ea typeface="Arial Unicode MS"/>
              </a:rPr>
              <a:t>AI 生成候选判断</a:t>
            </a:r>
            <a:endParaRPr lang="zh-CN" sz="1600"/>
          </a:p>
          <a:p>
            <a:pPr algn="ctr"/>
            <a:endParaRPr lang="zh-CN" sz="1600"/>
          </a:p>
          <a:p>
            <a:pPr algn="ctr"/>
            <a:r>
              <a:rPr lang="zh-CN" sz="1600" b="1">
                <a:solidFill>
                  <a:srgbClr val="FFFFFF"/>
                </a:solidFill>
                <a:latin typeface="Aptos Display"/>
                <a:ea typeface="Arial Unicode MS"/>
              </a:rPr>
              <a:t>确定性规则审计</a:t>
            </a:r>
            <a:endParaRPr lang="zh-CN" sz="1600"/>
          </a:p>
          <a:p>
            <a:pPr algn="ctr"/>
            <a:endParaRPr lang="zh-CN" sz="1600"/>
          </a:p>
          <a:p>
            <a:pPr algn="ctr"/>
            <a:r>
              <a:rPr lang="zh-CN" sz="1600" b="1">
                <a:solidFill>
                  <a:srgbClr val="FFFFFF"/>
                </a:solidFill>
                <a:latin typeface="Aptos Display"/>
                <a:ea typeface="Arial Unicode MS"/>
              </a:rPr>
              <a:t>人确认最终结论</a:t>
            </a:r>
            <a:endParaRPr lang="zh-CN" sz="1600"/>
          </a:p>
        </p:txBody>
      </p:sp>
      <p:sp>
        <p:nvSpPr>
          <p:cNvPr id="23" name="Text 23"/>
          <p:cNvSpPr txBox="1"/>
          <p:nvPr/>
        </p:nvSpPr>
        <p:spPr>
          <a:xfrm>
            <a:off x="9006840" y="5257800"/>
            <a:ext cx="2240280" cy="320040"/>
          </a:xfrm>
          <a:prstGeom prst="rect">
            <a:avLst/>
          </a:prstGeom>
          <a:noFill/>
          <a:ln>
            <a:noFill/>
          </a:ln>
        </p:spPr>
        <p:txBody>
          <a:bodyPr wrap="square" lIns="27432" tIns="27432" rIns="27432" bIns="27432" anchor="ctr">
            <a:normAutofit/>
          </a:bodyPr>
          <a:lstStyle/>
          <a:p>
            <a:pPr algn="ctr"/>
            <a:r>
              <a:rPr lang="zh-CN" sz="1000" b="1">
                <a:solidFill>
                  <a:srgbClr val="E85D75"/>
                </a:solidFill>
                <a:latin typeface="Aptos Display"/>
                <a:ea typeface="Arial Unicode MS"/>
              </a:rPr>
              <a:t>未确认内容不冒充最终结论</a:t>
            </a:r>
            <a:endParaRPr lang="zh-CN" sz="1000"/>
          </a:p>
        </p:txBody>
      </p:sp>
    </p:spTree>
  </p:cSld>
  <p:clrMapOvr>
    <a:masterClrMapping/>
  </p:clrMapOvr>
</p:sld>
</file>

<file path=ppt/theme/theme1.xml><?xml version="1.0" encoding="utf-8"?>
<a:theme xmlns:a="http://schemas.openxmlformats.org/drawingml/2006/main" name="InsightForge">
  <a:themeElements>
    <a:clrScheme name="InsightForge">
      <a:dk1>
        <a:srgbClr val="122033"/>
      </a:dk1>
      <a:lt1>
        <a:srgbClr val="FFFFFF"/>
      </a:lt1>
      <a:dk2>
        <a:srgbClr val="566579"/>
      </a:dk2>
      <a:lt2>
        <a:srgbClr val="EEF4F7"/>
      </a:lt2>
      <a:accent1>
        <a:srgbClr val="22C3A6"/>
      </a:accent1>
      <a:accent2>
        <a:srgbClr val="F5B942"/>
      </a:accent2>
      <a:accent3>
        <a:srgbClr val="E85D75"/>
      </a:accent3>
      <a:accent4>
        <a:srgbClr val="4D7CFE"/>
      </a:accent4>
      <a:accent5>
        <a:srgbClr val="566579"/>
      </a:accent5>
      <a:accent6>
        <a:srgbClr val="D8E1E7"/>
      </a:accent6>
      <a:hlink>
        <a:srgbClr val="0000FF"/>
      </a:hlink>
      <a:folHlink>
        <a:srgbClr val="800080"/>
      </a:folHlink>
    </a:clrScheme>
    <a:fontScheme name="Aptos">
      <a:majorFont>
        <a:latin typeface="Aptos Display"/>
        <a:ea typeface="Arial Unicode MS"/>
        <a:cs typeface="Aptos Display"/>
      </a:majorFont>
      <a:minorFont>
        <a:latin typeface="Aptos"/>
        <a:ea typeface="Arial Unicode MS"/>
        <a:cs typeface="Aptos"/>
      </a:minorFont>
    </a:fontScheme>
    <a:fmtScheme name="InsightForge">
      <a:fillStyleLst>
        <a:solidFill>
          <a:schemeClr val="phClr"/>
        </a:solidFill>
        <a:solidFill>
          <a:schemeClr val="phClr"/>
        </a:solidFill>
        <a:solidFill>
          <a:schemeClr val="phClr"/>
        </a:soli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solidFill>
            <a:schemeClr val="phClr"/>
          </a:solidFill>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709</Words>
  <Application>Microsoft Macintosh PowerPoint</Application>
  <PresentationFormat>宽屏</PresentationFormat>
  <Paragraphs>72</Paragraphs>
  <Slides>5</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5</vt:i4>
      </vt:variant>
    </vt:vector>
  </HeadingPairs>
  <TitlesOfParts>
    <vt:vector size="8" baseType="lpstr">
      <vt:lpstr>Aptos</vt:lpstr>
      <vt:lpstr>Aptos Display</vt:lpstr>
      <vt:lpstr>InsightForge</vt:lpstr>
      <vt:lpstr>PowerPoint 演示文稿</vt:lpstr>
      <vt:lpstr>PowerPoint 演示文稿</vt:lpstr>
      <vt:lpstr>PowerPoint 演示文稿</vt:lpstr>
      <vt:lpstr>PowerPoint 演示文稿</vt:lpstr>
      <vt:lpstr>PowerPoint 演示文稿</vt:lpstr>
    </vt:vector>
  </TitlesOfParts>
  <Company>InsightForge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中国新能源乘用车渗透率增长是否受到公共充电基础设施约束？</dc:title>
  <dc:subject>Evidence-native industry research</dc:subject>
  <dc:creator>InsightForge</dc:creator>
  <cp:lastModifiedBy>san zhang</cp:lastModifiedBy>
  <cp:revision>1</cp:revision>
  <dcterms:created xsi:type="dcterms:W3CDTF">2026-08-27T15:59:53Z</dcterms:created>
  <dcterms:modified xsi:type="dcterms:W3CDTF">2026-08-27T16:08:41Z</dcterms:modified>
</cp:coreProperties>
</file>